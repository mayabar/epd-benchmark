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4" r:id="rId7"/>
    <p:sldId id="263" r:id="rId8"/>
    <p:sldId id="261" r:id="rId9"/>
    <p:sldId id="262" r:id="rId10"/>
    <p:sldId id="265" r:id="rId11"/>
    <p:sldId id="266" r:id="rId12"/>
    <p:sldId id="268" r:id="rId13"/>
    <p:sldId id="267" r:id="rId14"/>
    <p:sldId id="269" r:id="rId15"/>
    <p:sldId id="270" r:id="rId16"/>
    <p:sldId id="273" r:id="rId17"/>
    <p:sldId id="272" r:id="rId18"/>
    <p:sldId id="271" r:id="rId19"/>
    <p:sldId id="274" r:id="rId20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8B00-4DBF-A256-7652-65D704588C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96CA44-6739-20A5-06F6-5673D1278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87B905-6AD3-A8C7-AF93-77B47B804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F38093-C0AB-35F7-AECE-16E13653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A0270-F93A-1EC6-53B4-6D2C047B9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507607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FE1AD-92B2-8C84-AA78-41BC38367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7154-1910-1C0C-69B4-F46ADE5D81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BF25C-39B2-C8EC-3C4A-323A0DE23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1355B-76BC-CF52-41B0-AB3708715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80912-C9FB-EE09-3038-52EC8F557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1327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768A4-74DF-3304-555E-21C86A2D3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A21D3-B5D7-3CF9-D447-A4BFE4D2C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0CB7D-2FB2-C7CE-5BE1-7A728DDEF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44B99A-F1EC-115B-3AE3-B7A0DC64B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519ABB-26E6-5830-B6EA-C876D8D05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6333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FB77C-C9E5-4F79-1E96-1BCF3BBEB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3F0A9-27D7-9334-067D-C4706ED09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C5B819-17E1-A495-5A27-CA21B28CC9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7716FD-774F-6415-C760-6744137F7E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88315-A4AF-B748-4BCF-142AC5C33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BDBF7-326F-03AA-8F18-4880EC87C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37257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2D775-8CB0-30AE-768E-E6EC5A67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4BE8F-9DF3-4264-1EC1-3E937A841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BE0E09-E3EB-4EEA-4F5E-F5D3D3BE9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5959A2-3E87-A864-4D45-B3F1F18CB2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C182B-88FE-464B-674D-5D91141CA6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D80121-EEF2-177F-A1E9-D83A74EBE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248D5F-291E-D351-2828-BDE69FE59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B61CFF-C1C7-FC44-CED2-584A8C5D2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9704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9E02D-70F5-FFC2-97D1-AB353D88C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74A0CE-88CB-EF8E-D1EB-DFC6C9C57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796E7-B01C-B0B9-3E58-FE5D21A57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2B4DA-8FC2-8D40-8DCB-AE7DEAD18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53898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8B7ECC-2CAB-7014-47FC-6B9652C451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240656-025C-08D6-87E6-1610A99A67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C361FF-C806-01D6-DB52-4BBED65E4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56878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A0FDA-5444-123C-FC53-710860775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B3F99-3D27-B7F1-92AC-D5EBD8B25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2678B0-1222-44C0-702A-B0F3AF181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856C2-D40D-1D2D-9A91-1D050B92A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7A81D-80D5-657C-2E22-4FD199650F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0A746-B0BE-FFDA-A260-24097456B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477836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93892-7462-9EED-8F58-B15A0250F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CD6393-9A7D-E5AF-2F4B-E9D047DF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987241-071C-307C-A3C6-720F4C0EB1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7C715-032B-C8AA-B20E-0260E0FE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BAB98-E472-0C29-805F-2AF63512D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57190-E6D1-4170-8654-C9860B97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45344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001D6-AFCB-8BB1-3B32-D0F73C405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786CEA-2FB9-5976-13E8-0535A4250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BC90E-9DA6-610C-EC6C-9687CA357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8D7F97-B37B-DFEC-C729-890EEDF89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39ED5-95AA-8700-0E40-13FA2832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697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AB583B-57D3-D428-437C-5976D61794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7F5950-4267-1F1A-8BB0-CB8C469024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074A9-EF09-F1C4-EB8A-46264B6B8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E3142-D24B-90F8-3835-58803518D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DA9CC-58A2-ECED-F624-917EA7A2C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6248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295123-3176-AAD5-28AE-DC32C9536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32DC5-F8F2-5002-5ACB-9AF44F84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9885F-3495-7936-EAC9-E04F42723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4595F-A8B7-0742-B127-06FA5D73D205}" type="datetimeFigureOut">
              <a:rPr lang="en-IL" smtClean="0"/>
              <a:t>30/07/2026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1BCF3-78CA-E96D-F23D-42B36E9F63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237062-6B97-D3FC-ACED-D025E2B966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53D1BB-4D23-4F45-AEDE-9F53017BEE2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98911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DC268-5E79-6858-AE38-C960F6E158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9DA078-47A1-2C69-C86A-0D477D66C8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38731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09CBA-F15E-5DA1-2908-10EA81E31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8010"/>
          </a:xfrm>
        </p:spPr>
        <p:txBody>
          <a:bodyPr anchor="t">
            <a:normAutofit/>
          </a:bodyPr>
          <a:lstStyle/>
          <a:p>
            <a:r>
              <a:rPr lang="en-IL" sz="2400" dirty="0"/>
              <a:t>5 mins, only text, 2 runs, 128 in, 128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F5CB03-1723-9A7D-E01A-BFC9A7F786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25" y="1049448"/>
            <a:ext cx="3627475" cy="5443426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dirty="0"/>
              <a:t>#Input tokens: 96823</a:t>
            </a:r>
          </a:p>
          <a:p>
            <a:pPr marL="0" indent="0">
              <a:buNone/>
            </a:pPr>
            <a:r>
              <a:rPr lang="en-US" sz="1200" dirty="0"/>
              <a:t>#Output tokens: 95714</a:t>
            </a:r>
          </a:p>
          <a:p>
            <a:pPr marL="0" indent="0">
              <a:buNone/>
            </a:pPr>
            <a:r>
              <a:rPr lang="en-US" sz="1200" dirty="0"/>
              <a:t>100%| 1500/1500 [05:01&lt;00:00,  4.97it/s]</a:t>
            </a:r>
          </a:p>
          <a:p>
            <a:pPr marL="0" indent="0">
              <a:buNone/>
            </a:pPr>
            <a:r>
              <a:rPr lang="en-US" sz="1200" dirty="0"/>
              <a:t>100%| 1500/1500 [05:01&lt;00:00,  4.97it/s]</a:t>
            </a:r>
          </a:p>
          <a:p>
            <a:pPr marL="0" indent="0">
              <a:buNone/>
            </a:pPr>
            <a:r>
              <a:rPr lang="en-US" sz="1200" dirty="0"/>
              <a:t>============ Serving Benchmark Result ============</a:t>
            </a:r>
          </a:p>
          <a:p>
            <a:pPr marL="0" indent="0">
              <a:buNone/>
            </a:pPr>
            <a:r>
              <a:rPr lang="en-US" sz="1200" dirty="0"/>
              <a:t>Backend:                                 </a:t>
            </a:r>
            <a:r>
              <a:rPr lang="en-US" sz="1200" dirty="0" err="1"/>
              <a:t>sglang</a:t>
            </a:r>
            <a:r>
              <a:rPr lang="en-US" sz="1200" dirty="0"/>
              <a:t>-</a:t>
            </a:r>
            <a:r>
              <a:rPr lang="en-US" sz="1200" dirty="0" err="1"/>
              <a:t>oai</a:t>
            </a:r>
            <a:r>
              <a:rPr lang="en-US" sz="1200" dirty="0"/>
              <a:t>-chat</a:t>
            </a:r>
          </a:p>
          <a:p>
            <a:pPr marL="0" indent="0">
              <a:buNone/>
            </a:pPr>
            <a:r>
              <a:rPr lang="en-US" sz="1200" dirty="0"/>
              <a:t>Traffic request rate:                    5.0       </a:t>
            </a:r>
          </a:p>
          <a:p>
            <a:pPr marL="0" indent="0">
              <a:buNone/>
            </a:pPr>
            <a:r>
              <a:rPr lang="en-US" sz="1200" dirty="0"/>
              <a:t>Max request concurrency:                 not set   </a:t>
            </a:r>
          </a:p>
          <a:p>
            <a:pPr marL="0" indent="0">
              <a:buNone/>
            </a:pPr>
            <a:r>
              <a:rPr lang="en-US" sz="1200" dirty="0"/>
              <a:t>Successful requests:                     1500      </a:t>
            </a:r>
          </a:p>
          <a:p>
            <a:pPr marL="0" indent="0">
              <a:buNone/>
            </a:pPr>
            <a:r>
              <a:rPr lang="en-US" sz="1200" dirty="0"/>
              <a:t>Benchmark duration (s):                  301.74  / 301.63   </a:t>
            </a:r>
          </a:p>
          <a:p>
            <a:pPr marL="0" indent="0">
              <a:buNone/>
            </a:pPr>
            <a:r>
              <a:rPr lang="en-US" sz="1200" dirty="0"/>
              <a:t>Total input tokens:                      96823    / 96823</a:t>
            </a:r>
          </a:p>
          <a:p>
            <a:pPr marL="0" indent="0">
              <a:buNone/>
            </a:pPr>
            <a:r>
              <a:rPr lang="en-US" sz="1200" dirty="0"/>
              <a:t>Total input text tokens:                 96823    / 96823</a:t>
            </a:r>
          </a:p>
          <a:p>
            <a:pPr marL="0" indent="0">
              <a:buNone/>
            </a:pPr>
            <a:r>
              <a:rPr lang="en-US" sz="1200" dirty="0"/>
              <a:t>Total generated tokens:                  95714    / 95714</a:t>
            </a:r>
          </a:p>
          <a:p>
            <a:pPr marL="0" indent="0">
              <a:buNone/>
            </a:pPr>
            <a:r>
              <a:rPr lang="en-US" sz="1200" dirty="0"/>
              <a:t>Total generated tokens (retokenized):    94082   / 94225   </a:t>
            </a:r>
          </a:p>
          <a:p>
            <a:pPr marL="0" indent="0">
              <a:buNone/>
            </a:pPr>
            <a:r>
              <a:rPr lang="en-US" sz="1200" dirty="0"/>
              <a:t>Request throughput (req/s):              4.97       / 4.97</a:t>
            </a:r>
          </a:p>
          <a:p>
            <a:pPr marL="0" indent="0">
              <a:buNone/>
            </a:pPr>
            <a:r>
              <a:rPr lang="en-US" sz="1200" dirty="0"/>
              <a:t>Input token throughput (</a:t>
            </a:r>
            <a:r>
              <a:rPr lang="en-US" sz="1200" dirty="0" err="1"/>
              <a:t>tok</a:t>
            </a:r>
            <a:r>
              <a:rPr lang="en-US" sz="1200" dirty="0"/>
              <a:t>/s):          320.88  / 321.00 </a:t>
            </a:r>
          </a:p>
          <a:p>
            <a:pPr marL="0" indent="0">
              <a:buNone/>
            </a:pPr>
            <a:r>
              <a:rPr lang="en-US" sz="1200" dirty="0"/>
              <a:t>Output token throughput (</a:t>
            </a:r>
            <a:r>
              <a:rPr lang="en-US" sz="1200" dirty="0" err="1"/>
              <a:t>tok</a:t>
            </a:r>
            <a:r>
              <a:rPr lang="en-US" sz="1200" dirty="0"/>
              <a:t>/s):         317.20   / 317.32</a:t>
            </a:r>
          </a:p>
          <a:p>
            <a:pPr marL="0" indent="0">
              <a:buNone/>
            </a:pPr>
            <a:r>
              <a:rPr lang="en-US" sz="1200" dirty="0"/>
              <a:t>Peak output token throughput (</a:t>
            </a:r>
            <a:r>
              <a:rPr lang="en-US" sz="1200" dirty="0" err="1"/>
              <a:t>tok</a:t>
            </a:r>
            <a:r>
              <a:rPr lang="en-US" sz="1200" dirty="0"/>
              <a:t>/s):    600.00  / 579.00 </a:t>
            </a:r>
          </a:p>
          <a:p>
            <a:pPr marL="0" indent="0">
              <a:buNone/>
            </a:pPr>
            <a:r>
              <a:rPr lang="en-US" sz="1200" dirty="0"/>
              <a:t>Peak concurrent requests:                24  / 24</a:t>
            </a:r>
          </a:p>
          <a:p>
            <a:pPr marL="0" indent="0">
              <a:buNone/>
            </a:pPr>
            <a:r>
              <a:rPr lang="en-US" sz="1200" dirty="0"/>
              <a:t>Total token throughput (</a:t>
            </a:r>
            <a:r>
              <a:rPr lang="en-US" sz="1200" dirty="0" err="1"/>
              <a:t>tok</a:t>
            </a:r>
            <a:r>
              <a:rPr lang="en-US" sz="1200" dirty="0"/>
              <a:t>/s):          638.08    / 638.32</a:t>
            </a:r>
          </a:p>
          <a:p>
            <a:pPr marL="0" indent="0">
              <a:buNone/>
            </a:pPr>
            <a:r>
              <a:rPr lang="en-US" sz="1200" dirty="0"/>
              <a:t>Concurrency:                             7.26      / 6.91 </a:t>
            </a:r>
          </a:p>
          <a:p>
            <a:pPr marL="0" indent="0">
              <a:buNone/>
            </a:pPr>
            <a:endParaRPr lang="en-US" sz="1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430F19-E291-E8F3-1EE6-82FB83603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51451"/>
              </p:ext>
            </p:extLst>
          </p:nvPr>
        </p:nvGraphicFramePr>
        <p:xfrm>
          <a:off x="4326273" y="893136"/>
          <a:ext cx="7501858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694">
                  <a:extLst>
                    <a:ext uri="{9D8B030D-6E8A-4147-A177-3AD203B41FA5}">
                      <a16:colId xmlns:a16="http://schemas.microsoft.com/office/drawing/2014/main" val="127215116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1625127444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940737074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1537592295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983342926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3664036649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3444884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Mean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Median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P90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P95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P99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286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End-to-End Latency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1460.60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1436.32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2587.44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2790.29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3077.29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58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71.25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70.58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85.65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88.78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97.55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647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22.13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22.46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25.13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25.65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26.36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60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22.49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21.27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27.99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33.56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41.86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154.03</a:t>
                      </a:r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849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43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End-to-End Latency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1390.46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1365.00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2474.06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2671.32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2945.56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81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69.54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69.21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83.98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88.62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97.25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57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21.06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21.45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24.26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24.82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25.63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48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21.37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20.20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27.23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33.32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40.24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119.70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987126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71D1F22-D5C5-A8C4-4A54-10B0442F52D8}"/>
              </a:ext>
            </a:extLst>
          </p:cNvPr>
          <p:cNvSpPr txBox="1"/>
          <p:nvPr/>
        </p:nvSpPr>
        <p:spPr>
          <a:xfrm>
            <a:off x="6181344" y="5623560"/>
            <a:ext cx="4972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/>
              <a:t>1.3</a:t>
            </a:r>
            <a:br>
              <a:rPr lang="en-IL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23093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86E72-C161-3810-2A81-2400D1856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TTFT, ITL, TPOT text only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F56609-E9B9-06F9-DDE0-559EC45366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89" y="1254642"/>
            <a:ext cx="6647120" cy="278404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C5D5E4-CD3F-E8FD-AA21-85EDBC540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813" y="4038684"/>
            <a:ext cx="6944834" cy="27213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A8E499-A4B1-43FE-C5E0-892192444F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795900">
            <a:off x="6113720" y="1309442"/>
            <a:ext cx="6822558" cy="267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613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E7B24-C7F5-E1AB-A3D3-137BCAC79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13086-97A5-BDFD-4EEE-5C1A228B9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8010"/>
          </a:xfrm>
        </p:spPr>
        <p:txBody>
          <a:bodyPr anchor="t">
            <a:normAutofit/>
          </a:bodyPr>
          <a:lstStyle/>
          <a:p>
            <a:r>
              <a:rPr lang="en-IL" sz="2400" dirty="0"/>
              <a:t>5 mins, inc 1 image, 1 run, 128 in, 128 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EE9A3-D43C-BD28-AA69-E72B1E039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325" y="1049448"/>
            <a:ext cx="3627475" cy="544342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200" dirty="0"/>
              <a:t>Created 1500 random jpeg images with average 2089831 bytes per request</a:t>
            </a:r>
          </a:p>
          <a:p>
            <a:pPr marL="0" indent="0">
              <a:buNone/>
            </a:pPr>
            <a:r>
              <a:rPr lang="en-US" sz="1200" dirty="0"/>
              <a:t>100%| 1500/1500 [04:58&lt;00:00,  5.03it/s]</a:t>
            </a:r>
          </a:p>
          <a:p>
            <a:pPr marL="0" indent="0">
              <a:buNone/>
            </a:pPr>
            <a:r>
              <a:rPr lang="en-US" sz="1200" dirty="0"/>
              <a:t>============ Serving Benchmark Result ============</a:t>
            </a:r>
          </a:p>
          <a:p>
            <a:pPr marL="0" indent="0">
              <a:buNone/>
            </a:pPr>
            <a:r>
              <a:rPr lang="en-US" sz="1200" dirty="0"/>
              <a:t>Backend:                                 </a:t>
            </a:r>
            <a:r>
              <a:rPr lang="en-US" sz="1200" dirty="0" err="1"/>
              <a:t>sglang</a:t>
            </a:r>
            <a:r>
              <a:rPr lang="en-US" sz="1200" dirty="0"/>
              <a:t>-</a:t>
            </a:r>
            <a:r>
              <a:rPr lang="en-US" sz="1200" dirty="0" err="1"/>
              <a:t>oai</a:t>
            </a:r>
            <a:r>
              <a:rPr lang="en-US" sz="1200" dirty="0"/>
              <a:t>-chat</a:t>
            </a:r>
          </a:p>
          <a:p>
            <a:pPr marL="0" indent="0">
              <a:buNone/>
            </a:pPr>
            <a:r>
              <a:rPr lang="en-US" sz="1200" dirty="0"/>
              <a:t>Traffic request rate:                    5.0       </a:t>
            </a:r>
          </a:p>
          <a:p>
            <a:pPr marL="0" indent="0">
              <a:buNone/>
            </a:pPr>
            <a:r>
              <a:rPr lang="en-US" sz="1200" dirty="0"/>
              <a:t>Max request concurrency:                 not set   </a:t>
            </a:r>
          </a:p>
          <a:p>
            <a:pPr marL="0" indent="0">
              <a:buNone/>
            </a:pPr>
            <a:r>
              <a:rPr lang="en-US" sz="1200" dirty="0"/>
              <a:t>Successful requests:                     1500      </a:t>
            </a:r>
          </a:p>
          <a:p>
            <a:pPr marL="0" indent="0">
              <a:buNone/>
            </a:pPr>
            <a:r>
              <a:rPr lang="en-US" sz="1200" dirty="0"/>
              <a:t>Benchmark duration (s):                  298.35    </a:t>
            </a:r>
          </a:p>
          <a:p>
            <a:pPr marL="0" indent="0">
              <a:buNone/>
            </a:pPr>
            <a:r>
              <a:rPr lang="en-US" sz="1200" dirty="0"/>
              <a:t>Total input tokens:                      3176989   </a:t>
            </a:r>
          </a:p>
          <a:p>
            <a:pPr marL="0" indent="0">
              <a:buNone/>
            </a:pPr>
            <a:r>
              <a:rPr lang="en-US" sz="1200" dirty="0"/>
              <a:t>Total input text tokens:                 113989    </a:t>
            </a:r>
          </a:p>
          <a:p>
            <a:pPr marL="0" indent="0">
              <a:buNone/>
            </a:pPr>
            <a:r>
              <a:rPr lang="en-US" sz="1200" dirty="0"/>
              <a:t>Total input vision tokens:               3063000   </a:t>
            </a:r>
          </a:p>
          <a:p>
            <a:pPr marL="0" indent="0">
              <a:buNone/>
            </a:pPr>
            <a:r>
              <a:rPr lang="en-US" sz="1200" dirty="0"/>
              <a:t>Total generated tokens:                  95714     </a:t>
            </a:r>
          </a:p>
          <a:p>
            <a:pPr marL="0" indent="0">
              <a:buNone/>
            </a:pPr>
            <a:r>
              <a:rPr lang="en-US" sz="1200" dirty="0"/>
              <a:t>Total generated tokens (retokenized):    95308     </a:t>
            </a:r>
          </a:p>
          <a:p>
            <a:pPr marL="0" indent="0">
              <a:buNone/>
            </a:pPr>
            <a:r>
              <a:rPr lang="en-US" sz="1200" dirty="0"/>
              <a:t>Request throughput (req/s):              5.03      </a:t>
            </a:r>
          </a:p>
          <a:p>
            <a:pPr marL="0" indent="0">
              <a:buNone/>
            </a:pPr>
            <a:r>
              <a:rPr lang="en-US" sz="1200" dirty="0"/>
              <a:t>Input token throughput (</a:t>
            </a:r>
            <a:r>
              <a:rPr lang="en-US" sz="1200" dirty="0" err="1"/>
              <a:t>tok</a:t>
            </a:r>
            <a:r>
              <a:rPr lang="en-US" sz="1200" dirty="0"/>
              <a:t>/s):          10648.61  </a:t>
            </a:r>
          </a:p>
          <a:p>
            <a:pPr marL="0" indent="0">
              <a:buNone/>
            </a:pPr>
            <a:r>
              <a:rPr lang="en-US" sz="1200" dirty="0"/>
              <a:t>Output token throughput (</a:t>
            </a:r>
            <a:r>
              <a:rPr lang="en-US" sz="1200" dirty="0" err="1"/>
              <a:t>tok</a:t>
            </a:r>
            <a:r>
              <a:rPr lang="en-US" sz="1200" dirty="0"/>
              <a:t>/s):         320.81    </a:t>
            </a:r>
          </a:p>
          <a:p>
            <a:pPr marL="0" indent="0">
              <a:buNone/>
            </a:pPr>
            <a:r>
              <a:rPr lang="en-US" sz="1200" dirty="0"/>
              <a:t>Peak output token throughput (</a:t>
            </a:r>
            <a:r>
              <a:rPr lang="en-US" sz="1200" dirty="0" err="1"/>
              <a:t>tok</a:t>
            </a:r>
            <a:r>
              <a:rPr lang="en-US" sz="1200" dirty="0"/>
              <a:t>/s):    1587.00   </a:t>
            </a:r>
          </a:p>
          <a:p>
            <a:pPr marL="0" indent="0">
              <a:buNone/>
            </a:pPr>
            <a:r>
              <a:rPr lang="en-US" sz="1200" dirty="0"/>
              <a:t>Peak concurrent requests:                80        </a:t>
            </a:r>
          </a:p>
          <a:p>
            <a:pPr marL="0" indent="0">
              <a:buNone/>
            </a:pPr>
            <a:r>
              <a:rPr lang="en-US" sz="1200" dirty="0"/>
              <a:t>Total token throughput (</a:t>
            </a:r>
            <a:r>
              <a:rPr lang="en-US" sz="1200" dirty="0" err="1"/>
              <a:t>tok</a:t>
            </a:r>
            <a:r>
              <a:rPr lang="en-US" sz="1200" dirty="0"/>
              <a:t>/s):          10969.42  </a:t>
            </a:r>
          </a:p>
          <a:p>
            <a:pPr marL="0" indent="0">
              <a:buNone/>
            </a:pPr>
            <a:r>
              <a:rPr lang="en-US" sz="1200" dirty="0"/>
              <a:t>Concurrency:                             47.43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E549BE4-1E94-1078-60E9-E8BB04506E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7779756"/>
              </p:ext>
            </p:extLst>
          </p:nvPr>
        </p:nvGraphicFramePr>
        <p:xfrm>
          <a:off x="4326273" y="893136"/>
          <a:ext cx="7501858" cy="415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1694">
                  <a:extLst>
                    <a:ext uri="{9D8B030D-6E8A-4147-A177-3AD203B41FA5}">
                      <a16:colId xmlns:a16="http://schemas.microsoft.com/office/drawing/2014/main" val="127215116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1625127444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940737074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1537592295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983342926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3664036649"/>
                    </a:ext>
                  </a:extLst>
                </a:gridCol>
                <a:gridCol w="1071694">
                  <a:extLst>
                    <a:ext uri="{9D8B030D-6E8A-4147-A177-3AD203B41FA5}">
                      <a16:colId xmlns:a16="http://schemas.microsoft.com/office/drawing/2014/main" val="3444884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Mean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Median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P90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P95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P99 E2E Latency (</a:t>
                      </a:r>
                      <a:r>
                        <a:rPr lang="en-US" sz="1200" dirty="0" err="1"/>
                        <a:t>ms</a:t>
                      </a:r>
                      <a:r>
                        <a:rPr lang="en-US" sz="1200" dirty="0"/>
                        <a:t>): 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286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End-to-End Latency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9434.50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8660.17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17388.56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19220.78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21333.58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158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1267.52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1094.36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2368.26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2927.54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3412.26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647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136.33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138.13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191.16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219.38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314.87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260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131.81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46.92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350.62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453.36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637.64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1694.55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9849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432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End-to-End Latency</a:t>
                      </a:r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48114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3570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848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9871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1558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E9487-3A19-5FF1-775E-62BF31389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TTFT, ITL, TPOT with images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86643-34D6-122A-C9CB-856073088D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431"/>
          <a:stretch>
            <a:fillRect/>
          </a:stretch>
        </p:blipFill>
        <p:spPr>
          <a:xfrm>
            <a:off x="210879" y="1397169"/>
            <a:ext cx="5562600" cy="27630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CEC63A-694C-EAC0-FE33-0291AEFF7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559" y="4084502"/>
            <a:ext cx="7772400" cy="277349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A722DA-D796-FB38-879C-D0B8641E558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1542"/>
          <a:stretch>
            <a:fillRect/>
          </a:stretch>
        </p:blipFill>
        <p:spPr>
          <a:xfrm>
            <a:off x="5932667" y="1373047"/>
            <a:ext cx="5637857" cy="271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39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6634-40C5-F611-5F62-9DF67BC0F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EPD pod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9C664-4018-8DC8-CEDB-7CC9C081D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Decode</a:t>
            </a:r>
          </a:p>
          <a:p>
            <a:pPr lvl="1"/>
            <a:r>
              <a:rPr lang="en-IL" dirty="0"/>
              <a:t>470 – 10 sec</a:t>
            </a:r>
          </a:p>
          <a:p>
            <a:pPr lvl="1"/>
            <a:r>
              <a:rPr lang="en-IL" dirty="0"/>
              <a:t>331 – 15 sec</a:t>
            </a:r>
          </a:p>
          <a:p>
            <a:pPr lvl="1"/>
            <a:r>
              <a:rPr lang="en-IL" dirty="0"/>
              <a:t>250 – 5 sec</a:t>
            </a:r>
          </a:p>
          <a:p>
            <a:pPr lvl="1"/>
            <a:r>
              <a:rPr lang="en-IL" dirty="0"/>
              <a:t>185 – 20 sec</a:t>
            </a:r>
          </a:p>
          <a:p>
            <a:r>
              <a:rPr lang="en-IL" dirty="0"/>
              <a:t>Prefill</a:t>
            </a:r>
          </a:p>
          <a:p>
            <a:pPr lvl="1"/>
            <a:r>
              <a:rPr lang="en-IL" dirty="0"/>
              <a:t>550 – 0.5 sec</a:t>
            </a:r>
          </a:p>
          <a:p>
            <a:pPr lvl="1"/>
            <a:r>
              <a:rPr lang="en-IL" dirty="0"/>
              <a:t>450 – 0.8 sec</a:t>
            </a:r>
          </a:p>
          <a:p>
            <a:pPr lvl="1"/>
            <a:r>
              <a:rPr lang="en-IL" dirty="0"/>
              <a:t>300 – 0.3 sec</a:t>
            </a:r>
          </a:p>
          <a:p>
            <a:pPr lvl="1"/>
            <a:r>
              <a:rPr lang="en-IL" dirty="0"/>
              <a:t>7 – 1 sec</a:t>
            </a:r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09476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EC289-DD66-781F-D3F9-011F3F9676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E-PD with 1 image in request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9311A6-5592-B58E-7BFD-C630AB260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RATES=(5)</a:t>
            </a:r>
            <a:br>
              <a:rPr lang="en-IL" dirty="0"/>
            </a:br>
            <a:r>
              <a:rPr lang="en-IL" dirty="0"/>
              <a:t>NUM_PROMPTS=1500</a:t>
            </a:r>
            <a:br>
              <a:rPr lang="en-IL" dirty="0"/>
            </a:br>
            <a:r>
              <a:rPr lang="en-IL" dirty="0"/>
              <a:t>IMAGE_COUNT=1</a:t>
            </a:r>
            <a:br>
              <a:rPr lang="en-IL" dirty="0"/>
            </a:br>
            <a:r>
              <a:rPr lang="en-IL" dirty="0"/>
              <a:t>IMAGE_RESOLUTION=1080p</a:t>
            </a:r>
            <a:br>
              <a:rPr lang="en-IL" dirty="0"/>
            </a:br>
            <a:r>
              <a:rPr lang="en-IL" dirty="0"/>
              <a:t>RANDOM_INPUT_LEN=128</a:t>
            </a:r>
            <a:br>
              <a:rPr lang="en-IL" dirty="0"/>
            </a:br>
            <a:r>
              <a:rPr lang="en-IL" dirty="0"/>
              <a:t>RANDOM_OUTPUT_LEN=128</a:t>
            </a:r>
          </a:p>
        </p:txBody>
      </p:sp>
    </p:spTree>
    <p:extLst>
      <p:ext uri="{BB962C8B-B14F-4D97-AF65-F5344CB8AC3E}">
        <p14:creationId xmlns:p14="http://schemas.microsoft.com/office/powerpoint/2010/main" val="2971331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DC26A-771D-843B-A555-439D6807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E pod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F5ABC-923A-7EED-4BA1-E144DD69E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Decode</a:t>
            </a:r>
          </a:p>
          <a:p>
            <a:pPr lvl="1"/>
            <a:r>
              <a:rPr lang="en-US" dirty="0"/>
              <a:t>M</a:t>
            </a:r>
            <a:r>
              <a:rPr lang="en-IL" dirty="0"/>
              <a:t>ostly 0.3 sec (1400)</a:t>
            </a:r>
          </a:p>
          <a:p>
            <a:pPr lvl="1"/>
            <a:r>
              <a:rPr lang="en-IL" dirty="0"/>
              <a:t>Some 0.5 secs (100)</a:t>
            </a:r>
          </a:p>
          <a:p>
            <a:r>
              <a:rPr lang="en-IL" dirty="0"/>
              <a:t>E </a:t>
            </a:r>
          </a:p>
          <a:p>
            <a:pPr lvl="1"/>
            <a:r>
              <a:rPr lang="en-IL" dirty="0"/>
              <a:t>1500 – 0.3 sec (probably 0)</a:t>
            </a:r>
          </a:p>
        </p:txBody>
      </p:sp>
    </p:spTree>
    <p:extLst>
      <p:ext uri="{BB962C8B-B14F-4D97-AF65-F5344CB8AC3E}">
        <p14:creationId xmlns:p14="http://schemas.microsoft.com/office/powerpoint/2010/main" val="1480420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4B4E-E12B-8EA7-690C-0FE6CB7ED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PD pod in e-pd configuration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D4491-017A-651A-FCC4-E2FF8FCE0F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L" dirty="0"/>
              <a:t>Decode</a:t>
            </a:r>
          </a:p>
          <a:p>
            <a:pPr lvl="1"/>
            <a:r>
              <a:rPr lang="en-IL" dirty="0"/>
              <a:t>500 – 10 sec</a:t>
            </a:r>
          </a:p>
          <a:p>
            <a:pPr lvl="1"/>
            <a:r>
              <a:rPr lang="en-IL" dirty="0"/>
              <a:t>330 – 15 sec</a:t>
            </a:r>
          </a:p>
          <a:p>
            <a:pPr lvl="1"/>
            <a:r>
              <a:rPr lang="en-IL" dirty="0"/>
              <a:t>260 – 5 sec</a:t>
            </a:r>
          </a:p>
          <a:p>
            <a:pPr lvl="1"/>
            <a:r>
              <a:rPr lang="en-IL" dirty="0"/>
              <a:t>144 – 20 sec</a:t>
            </a:r>
          </a:p>
          <a:p>
            <a:pPr lvl="1"/>
            <a:r>
              <a:rPr lang="en-US" dirty="0"/>
              <a:t>O</a:t>
            </a:r>
            <a:r>
              <a:rPr lang="en-IL" dirty="0"/>
              <a:t>ther – lower values</a:t>
            </a:r>
          </a:p>
          <a:p>
            <a:r>
              <a:rPr lang="en-IL" dirty="0"/>
              <a:t>Prefill</a:t>
            </a:r>
          </a:p>
          <a:p>
            <a:pPr lvl="1"/>
            <a:r>
              <a:rPr lang="en-IL" dirty="0"/>
              <a:t>500 – 0.5 sec</a:t>
            </a:r>
          </a:p>
          <a:p>
            <a:pPr lvl="1"/>
            <a:r>
              <a:rPr lang="en-IL" dirty="0"/>
              <a:t>443 – 0.8 sec</a:t>
            </a:r>
          </a:p>
          <a:p>
            <a:pPr lvl="1"/>
            <a:r>
              <a:rPr lang="en-IL" dirty="0"/>
              <a:t>318 – 0.3 sec</a:t>
            </a:r>
          </a:p>
          <a:p>
            <a:pPr lvl="1"/>
            <a:r>
              <a:rPr lang="en-IL" dirty="0"/>
              <a:t>100 – 1 sec</a:t>
            </a:r>
          </a:p>
        </p:txBody>
      </p:sp>
    </p:spTree>
    <p:extLst>
      <p:ext uri="{BB962C8B-B14F-4D97-AF65-F5344CB8AC3E}">
        <p14:creationId xmlns:p14="http://schemas.microsoft.com/office/powerpoint/2010/main" val="1891398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3DAD6-2E78-A9A7-D5CF-8D297667A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9" y="131762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L" dirty="0"/>
              <a:t>One image + long output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7B048E-93A7-A8C5-14B5-B3047AF8D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718" y="703805"/>
            <a:ext cx="2976761" cy="5825645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</a:pPr>
            <a:r>
              <a:rPr lang="en-IL" sz="1800" b="1" dirty="0"/>
              <a:t>EPD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#Input tokens: 3177039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#Output tokens: 778850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#Total images: 1500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#Images per request: 1 (fixed)</a:t>
            </a:r>
          </a:p>
          <a:p>
            <a:pPr marL="0" indent="0">
              <a:spcBef>
                <a:spcPts val="400"/>
              </a:spcBef>
              <a:buNone/>
            </a:pP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=== Token Breakdown (per request avg / total) ===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  Raw text prompt tokens (without overhead): avg=64.5, total=96823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  Text prompt tokens (with chat template): avg=76.0, total=114038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  Text prompt overhead: avg=11.5, total=17215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  Vision tokens: avg=2042.0, total=3063001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Created 1500 random jpeg images with average 2089831 bytes per request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100%|| 1500/1500 [12:56&lt;00:00,  1.93it/s]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CBEB425-C45E-C46B-650F-3606C13C2F39}"/>
              </a:ext>
            </a:extLst>
          </p:cNvPr>
          <p:cNvSpPr txBox="1">
            <a:spLocks/>
          </p:cNvSpPr>
          <p:nvPr/>
        </p:nvSpPr>
        <p:spPr>
          <a:xfrm>
            <a:off x="3020357" y="2445195"/>
            <a:ext cx="3212803" cy="441280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============ Serving Benchmark Result ============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Backend:                                 </a:t>
            </a:r>
            <a:r>
              <a:rPr lang="en-US" sz="1100" dirty="0" err="1"/>
              <a:t>sglang</a:t>
            </a:r>
            <a:r>
              <a:rPr lang="en-US" sz="1100" dirty="0"/>
              <a:t>-</a:t>
            </a:r>
            <a:r>
              <a:rPr lang="en-US" sz="1100" dirty="0" err="1"/>
              <a:t>oai</a:t>
            </a:r>
            <a:r>
              <a:rPr lang="en-US" sz="1100" dirty="0"/>
              <a:t>-chat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Traffic request rate:                    5.0  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Max request concurrency:                 not set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Successful requests:                     1500 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Benchmark duration (s):                  776.23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input tokens:                      3177039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input text tokens:                 114038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input vision tokens:               3063001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generated tokens:                  778850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generated tokens (retokenized):    406266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Request throughput (req/s):              1.93 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Input token throughput (</a:t>
            </a:r>
            <a:r>
              <a:rPr lang="en-US" sz="1100" dirty="0" err="1"/>
              <a:t>tok</a:t>
            </a:r>
            <a:r>
              <a:rPr lang="en-US" sz="1100" dirty="0"/>
              <a:t>/s):          4092.93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Output token throughput (</a:t>
            </a:r>
            <a:r>
              <a:rPr lang="en-US" sz="1100" dirty="0" err="1"/>
              <a:t>tok</a:t>
            </a:r>
            <a:r>
              <a:rPr lang="en-US" sz="1100" dirty="0"/>
              <a:t>/s):         1003.38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Peak output token throughput (</a:t>
            </a:r>
            <a:r>
              <a:rPr lang="en-US" sz="1100" dirty="0" err="1"/>
              <a:t>tok</a:t>
            </a:r>
            <a:r>
              <a:rPr lang="en-US" sz="1100" dirty="0"/>
              <a:t>/s):    1580.00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Peak concurrent requests:                949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token throughput (</a:t>
            </a:r>
            <a:r>
              <a:rPr lang="en-US" sz="1100" dirty="0" err="1"/>
              <a:t>tok</a:t>
            </a:r>
            <a:r>
              <a:rPr lang="en-US" sz="1100" dirty="0"/>
              <a:t>/s):          5096.30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Concurrency:                             485.16    </a:t>
            </a:r>
          </a:p>
          <a:p>
            <a:pPr marL="0" indent="0">
              <a:spcBef>
                <a:spcPts val="400"/>
              </a:spcBef>
              <a:buNone/>
            </a:pPr>
            <a:endParaRPr lang="en-IL" sz="110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3F65F36-59AC-2F5F-7977-017685A7F88A}"/>
              </a:ext>
            </a:extLst>
          </p:cNvPr>
          <p:cNvSpPr txBox="1">
            <a:spLocks/>
          </p:cNvSpPr>
          <p:nvPr/>
        </p:nvSpPr>
        <p:spPr>
          <a:xfrm>
            <a:off x="5341089" y="900592"/>
            <a:ext cx="3212803" cy="5825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87B5117-2D12-FD94-906F-957E96F5ADCB}"/>
              </a:ext>
            </a:extLst>
          </p:cNvPr>
          <p:cNvSpPr txBox="1">
            <a:spLocks/>
          </p:cNvSpPr>
          <p:nvPr/>
        </p:nvSpPr>
        <p:spPr>
          <a:xfrm>
            <a:off x="5904330" y="703805"/>
            <a:ext cx="3212803" cy="5825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</a:pPr>
            <a:r>
              <a:rPr lang="en-IL" sz="1800" b="1" dirty="0"/>
              <a:t>E---PD</a:t>
            </a:r>
            <a:endParaRPr lang="en-US" sz="1800" b="1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#Input tokens: 3177074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#Output tokens: 778850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#Total images: 1500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#Images per request: 1 (fixed)</a:t>
            </a:r>
          </a:p>
          <a:p>
            <a:pPr marL="0" indent="0">
              <a:spcBef>
                <a:spcPts val="400"/>
              </a:spcBef>
              <a:buNone/>
            </a:pPr>
            <a:endParaRPr lang="en-US" sz="1100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=== Token Breakdown (per request avg / total) ===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  Raw text prompt tokens (without overhead): avg=64.5, total=96823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  Text prompt tokens (with chat template): avg=76.0, total=114074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  Text prompt overhead: avg=11.5, total=17251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  Vision tokens: avg=2042.0, total=3063000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Created 1500 random jpeg images with average 2089831 bytes per request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100%| 1500/1500 [13:01&lt;00:00,  1.92it/s]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D40160B-13DE-BE90-4729-2C398CD6D016}"/>
              </a:ext>
            </a:extLst>
          </p:cNvPr>
          <p:cNvSpPr txBox="1">
            <a:spLocks/>
          </p:cNvSpPr>
          <p:nvPr/>
        </p:nvSpPr>
        <p:spPr>
          <a:xfrm>
            <a:off x="8992487" y="2445195"/>
            <a:ext cx="3212803" cy="40842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============ Serving Benchmark Result ============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Backend:                                 </a:t>
            </a:r>
            <a:r>
              <a:rPr lang="en-US" sz="1100" dirty="0" err="1"/>
              <a:t>sglang</a:t>
            </a:r>
            <a:r>
              <a:rPr lang="en-US" sz="1100" dirty="0"/>
              <a:t>-</a:t>
            </a:r>
            <a:r>
              <a:rPr lang="en-US" sz="1100" dirty="0" err="1"/>
              <a:t>oai</a:t>
            </a:r>
            <a:r>
              <a:rPr lang="en-US" sz="1100" dirty="0"/>
              <a:t>-chat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Traffic request rate:                    5.0  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Max request concurrency:                 not set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Successful requests:                     1500 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Benchmark duration (s):                  781.91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input tokens:                      3177074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input text tokens:                 114074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input vision tokens:               3063000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generated tokens:                  778850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generated tokens (retokenized):    416037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Request throughput (req/s):              1.92 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Input token throughput (</a:t>
            </a:r>
            <a:r>
              <a:rPr lang="en-US" sz="1100" dirty="0" err="1"/>
              <a:t>tok</a:t>
            </a:r>
            <a:r>
              <a:rPr lang="en-US" sz="1100" dirty="0"/>
              <a:t>/s):          4063.22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Output token throughput (</a:t>
            </a:r>
            <a:r>
              <a:rPr lang="en-US" sz="1100" dirty="0" err="1"/>
              <a:t>tok</a:t>
            </a:r>
            <a:r>
              <a:rPr lang="en-US" sz="1100" dirty="0"/>
              <a:t>/s):         996.09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Peak output token throughput (</a:t>
            </a:r>
            <a:r>
              <a:rPr lang="en-US" sz="1100" dirty="0" err="1"/>
              <a:t>tok</a:t>
            </a:r>
            <a:r>
              <a:rPr lang="en-US" sz="1100" dirty="0"/>
              <a:t>/s):    1623.00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Peak concurrent requests:                950  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Total token throughput (</a:t>
            </a:r>
            <a:r>
              <a:rPr lang="en-US" sz="1100" dirty="0" err="1"/>
              <a:t>tok</a:t>
            </a:r>
            <a:r>
              <a:rPr lang="en-US" sz="1100" dirty="0"/>
              <a:t>/s):          5059.31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Concurrency:                             483.99    </a:t>
            </a:r>
          </a:p>
        </p:txBody>
      </p:sp>
    </p:spTree>
    <p:extLst>
      <p:ext uri="{BB962C8B-B14F-4D97-AF65-F5344CB8AC3E}">
        <p14:creationId xmlns:p14="http://schemas.microsoft.com/office/powerpoint/2010/main" val="966339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F5B97-79ED-41E6-57F1-BD85B848D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C6160-EE3B-A4EE-8ABA-CCD88F817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89" y="131762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L" dirty="0"/>
              <a:t>One image + long output - cont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DE49EBD-1FBE-FE40-5BFB-04F3C94ED555}"/>
              </a:ext>
            </a:extLst>
          </p:cNvPr>
          <p:cNvSpPr txBox="1">
            <a:spLocks/>
          </p:cNvSpPr>
          <p:nvPr/>
        </p:nvSpPr>
        <p:spPr>
          <a:xfrm>
            <a:off x="451620" y="707834"/>
            <a:ext cx="3212803" cy="5372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b="1" dirty="0"/>
              <a:t>EPD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----------------End-to-End Latency----------------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Mean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  251064.12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Median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251843.94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P90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   435204.21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P95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   461252.50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P99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   479046.46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---------------Time to First Token----------------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Mean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  225988.02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Median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228047.39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P90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412238.25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P95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430708.87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P99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455903.40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-----Time per Output Token (excl. 1st token)------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Mean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  49.15    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Median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48.76    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P90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52.61    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P95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55.12    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r>
              <a:rPr lang="en-US" sz="1100" dirty="0"/>
              <a:t>P99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66.68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---------------Inter-Token Latency----------------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Mean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66.38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Median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35.86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P90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 166.65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P95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 200.60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P99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 378.13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Max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 3404.02  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E793D5D-F137-EAA1-EFC3-92F7EDC3574E}"/>
              </a:ext>
            </a:extLst>
          </p:cNvPr>
          <p:cNvSpPr txBox="1">
            <a:spLocks/>
          </p:cNvSpPr>
          <p:nvPr/>
        </p:nvSpPr>
        <p:spPr>
          <a:xfrm>
            <a:off x="5341089" y="900592"/>
            <a:ext cx="3212803" cy="5825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96262CC-8CC7-6737-A03E-1749220F7F65}"/>
              </a:ext>
            </a:extLst>
          </p:cNvPr>
          <p:cNvSpPr txBox="1">
            <a:spLocks/>
          </p:cNvSpPr>
          <p:nvPr/>
        </p:nvSpPr>
        <p:spPr>
          <a:xfrm>
            <a:off x="5115431" y="707834"/>
            <a:ext cx="3212803" cy="53729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400"/>
              </a:spcBef>
              <a:buNone/>
            </a:pPr>
            <a:r>
              <a:rPr lang="en-IL" sz="1050" b="1" dirty="0"/>
              <a:t>E---PD</a:t>
            </a:r>
            <a:endParaRPr lang="en-US" sz="1050" b="1" dirty="0"/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----------------End-to-End Latency----------------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Mean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  252290.88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Median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253472.78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P90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   437618.75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P95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   463490.56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P99 E2E Latency (</a:t>
            </a:r>
            <a:r>
              <a:rPr lang="en-US" sz="1100" dirty="0" err="1"/>
              <a:t>ms</a:t>
            </a:r>
            <a:r>
              <a:rPr lang="en-US" sz="1100" dirty="0"/>
              <a:t>):                    484957.18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---------------Time to First Token----------------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Mean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  227359.01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Median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229192.09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P90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414535.67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P95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434479.54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P99 TTFT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458551.31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-----Time per Output Token (excl. 1st token)------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Mean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  49.00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Median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48.46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P90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52.61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P95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55.17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P99 TPOT (</a:t>
            </a:r>
            <a:r>
              <a:rPr lang="en-US" sz="1100" dirty="0" err="1"/>
              <a:t>ms</a:t>
            </a:r>
            <a:r>
              <a:rPr lang="en-US" sz="1100" dirty="0"/>
              <a:t>):                           76.37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---------------Inter-Token Latency----------------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Mean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65.42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Median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36.58 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P90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 162.09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P95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 190.52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P99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 364.13    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100" dirty="0"/>
              <a:t>Max ITL (</a:t>
            </a:r>
            <a:r>
              <a:rPr lang="en-US" sz="1100" dirty="0" err="1"/>
              <a:t>ms</a:t>
            </a:r>
            <a:r>
              <a:rPr lang="en-US" sz="1100" dirty="0"/>
              <a:t>):                            2710.93   </a:t>
            </a:r>
          </a:p>
          <a:p>
            <a:pPr marL="0" indent="0">
              <a:spcBef>
                <a:spcPts val="400"/>
              </a:spcBef>
              <a:buFont typeface="Arial" panose="020B0604020202020204" pitchFamily="34" charset="0"/>
              <a:buNone/>
            </a:pP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0663385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AF460-C738-C003-1839-D37AC59290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7C98-8380-3A06-F54E-E4F8CD82D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Processing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4E5C4-6BEB-9AB6-9550-38AD629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45280" cy="4351338"/>
          </a:xfrm>
        </p:spPr>
        <p:txBody>
          <a:bodyPr>
            <a:normAutofit/>
          </a:bodyPr>
          <a:lstStyle/>
          <a:p>
            <a:r>
              <a:rPr lang="en-IL" dirty="0"/>
              <a:t>EPD</a:t>
            </a:r>
          </a:p>
          <a:p>
            <a:pPr lvl="1"/>
            <a:r>
              <a:rPr lang="en-IL" dirty="0"/>
              <a:t>Decode</a:t>
            </a:r>
          </a:p>
          <a:p>
            <a:pPr lvl="2"/>
            <a:r>
              <a:rPr lang="en-IL" dirty="0"/>
              <a:t>300 – 50 sec</a:t>
            </a:r>
          </a:p>
          <a:p>
            <a:pPr lvl="2"/>
            <a:r>
              <a:rPr lang="en-IL" dirty="0"/>
              <a:t>280 – 40 sec</a:t>
            </a:r>
          </a:p>
          <a:p>
            <a:pPr lvl="2"/>
            <a:r>
              <a:rPr lang="en-IL" dirty="0"/>
              <a:t>275 – 30 sec</a:t>
            </a:r>
          </a:p>
          <a:p>
            <a:pPr lvl="2"/>
            <a:r>
              <a:rPr lang="en-IL" dirty="0"/>
              <a:t>175 – 20 sec</a:t>
            </a:r>
          </a:p>
          <a:p>
            <a:pPr lvl="2"/>
            <a:r>
              <a:rPr lang="en-IL" dirty="0"/>
              <a:t>150 – 15 sec</a:t>
            </a:r>
          </a:p>
          <a:p>
            <a:pPr lvl="2"/>
            <a:r>
              <a:rPr lang="en-IL" dirty="0"/>
              <a:t>146 – 10 sec</a:t>
            </a:r>
          </a:p>
          <a:p>
            <a:pPr lvl="1"/>
            <a:r>
              <a:rPr lang="en-IL" dirty="0"/>
              <a:t>Prefill</a:t>
            </a:r>
          </a:p>
          <a:p>
            <a:pPr lvl="2"/>
            <a:r>
              <a:rPr lang="en-IL" dirty="0"/>
              <a:t>972 – 0.3 sec</a:t>
            </a:r>
          </a:p>
          <a:p>
            <a:pPr lvl="2"/>
            <a:r>
              <a:rPr lang="en-IL" dirty="0"/>
              <a:t>405 – 0.5 sec</a:t>
            </a:r>
          </a:p>
          <a:p>
            <a:pPr lvl="2"/>
            <a:r>
              <a:rPr lang="en-IL" dirty="0"/>
              <a:t>90 – 0.8 sec</a:t>
            </a:r>
          </a:p>
          <a:p>
            <a:pPr lvl="2"/>
            <a:endParaRPr lang="en-IL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F467A5-4D4D-F027-6FE9-1DDCDD96C736}"/>
              </a:ext>
            </a:extLst>
          </p:cNvPr>
          <p:cNvSpPr txBox="1">
            <a:spLocks/>
          </p:cNvSpPr>
          <p:nvPr/>
        </p:nvSpPr>
        <p:spPr>
          <a:xfrm>
            <a:off x="5772912" y="1825625"/>
            <a:ext cx="414528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L" dirty="0"/>
              <a:t>E---PD</a:t>
            </a:r>
          </a:p>
          <a:p>
            <a:pPr lvl="1"/>
            <a:r>
              <a:rPr lang="en-IL" dirty="0"/>
              <a:t>Decode</a:t>
            </a:r>
          </a:p>
          <a:p>
            <a:pPr lvl="2"/>
            <a:r>
              <a:rPr lang="en-IL" dirty="0"/>
              <a:t>470 – 10 sec</a:t>
            </a:r>
          </a:p>
          <a:p>
            <a:pPr lvl="2"/>
            <a:r>
              <a:rPr lang="en-IL" dirty="0"/>
              <a:t>331 – 15 sec</a:t>
            </a:r>
          </a:p>
          <a:p>
            <a:pPr lvl="2"/>
            <a:r>
              <a:rPr lang="en-IL" dirty="0"/>
              <a:t>250 – 5 sec</a:t>
            </a:r>
          </a:p>
          <a:p>
            <a:pPr lvl="2"/>
            <a:r>
              <a:rPr lang="en-IL" dirty="0"/>
              <a:t>185 – 20 sec</a:t>
            </a:r>
          </a:p>
          <a:p>
            <a:pPr lvl="1"/>
            <a:r>
              <a:rPr lang="en-IL" dirty="0"/>
              <a:t>Prefill</a:t>
            </a:r>
          </a:p>
          <a:p>
            <a:pPr lvl="2"/>
            <a:r>
              <a:rPr lang="en-IL" dirty="0"/>
              <a:t>550 – 0.5 sec</a:t>
            </a:r>
          </a:p>
          <a:p>
            <a:pPr lvl="2"/>
            <a:r>
              <a:rPr lang="en-IL" dirty="0"/>
              <a:t>450 – 0.8 sec</a:t>
            </a:r>
          </a:p>
          <a:p>
            <a:pPr lvl="2"/>
            <a:r>
              <a:rPr lang="en-IL" dirty="0"/>
              <a:t>300 – 0.3 sec</a:t>
            </a:r>
          </a:p>
          <a:p>
            <a:pPr lvl="2"/>
            <a:r>
              <a:rPr lang="en-IL" dirty="0"/>
              <a:t>7 – 1 sec</a:t>
            </a:r>
          </a:p>
          <a:p>
            <a:pPr lvl="2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387197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05D20-67B9-5D27-561D-0F9C625BD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New config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079296-AA6D-FD64-8AF8-687FBD62F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E – try to run with tp=1</a:t>
            </a:r>
          </a:p>
          <a:p>
            <a:r>
              <a:rPr lang="en-IL" dirty="0"/>
              <a:t>PD – run with tp=4</a:t>
            </a:r>
          </a:p>
          <a:p>
            <a:endParaRPr lang="en-IL" dirty="0"/>
          </a:p>
          <a:p>
            <a:endParaRPr lang="en-IL" dirty="0"/>
          </a:p>
          <a:p>
            <a:r>
              <a:rPr lang="en-IL" dirty="0"/>
              <a:t>Check logs (e &amp; PD ) that encoded images are transfer</a:t>
            </a:r>
            <a:r>
              <a:rPr lang="en-US" dirty="0"/>
              <a:t>r</a:t>
            </a:r>
            <a:r>
              <a:rPr lang="en-IL" dirty="0"/>
              <a:t>ed from e to d</a:t>
            </a:r>
          </a:p>
          <a:p>
            <a:r>
              <a:rPr lang="en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50830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A448A-FE6B-2BA0-2EF3-FE2E97E1E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19-07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5EE4A-2D4E-C8A0-6EDC-3428C6879C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2408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6AA75-68D2-BB3F-99E0-DD3A8367B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474"/>
            <a:ext cx="10515600" cy="485267"/>
          </a:xfrm>
        </p:spPr>
        <p:txBody>
          <a:bodyPr>
            <a:normAutofit/>
          </a:bodyPr>
          <a:lstStyle/>
          <a:p>
            <a:r>
              <a:rPr lang="en-IL" sz="2400" dirty="0"/>
              <a:t>Rate 20, images 8 (use hard coded)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96F17-79D7-9468-807E-CFE28774E2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598741"/>
            <a:ext cx="12192000" cy="5578222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[Sun Jul 19 08:16:09 AM UTC 2026] Waiting for http://aggregation-epp:80/v1/models ...</a:t>
            </a:r>
          </a:p>
          <a:p>
            <a:r>
              <a:rPr lang="en-US" dirty="0"/>
              <a:t>  Endpoint up.</a:t>
            </a:r>
          </a:p>
          <a:p>
            <a:endParaRPr lang="en-US" dirty="0"/>
          </a:p>
          <a:p>
            <a:r>
              <a:rPr lang="en-US" dirty="0"/>
              <a:t>[Sun Jul 19 08:16:09 AM UTC 2026] === Rate 20 ===</a:t>
            </a:r>
          </a:p>
          <a:p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/local/lib/python3.12/</a:t>
            </a:r>
            <a:r>
              <a:rPr lang="en-US" dirty="0" err="1"/>
              <a:t>dist</a:t>
            </a:r>
            <a:r>
              <a:rPr lang="en-US" dirty="0"/>
              <a:t>-packages/</a:t>
            </a:r>
            <a:r>
              <a:rPr lang="en-US" dirty="0" err="1"/>
              <a:t>torchao</a:t>
            </a:r>
            <a:r>
              <a:rPr lang="en-US" dirty="0"/>
              <a:t>/quantization/quant_api.py:1731: </a:t>
            </a:r>
            <a:r>
              <a:rPr lang="en-US" dirty="0" err="1"/>
              <a:t>SyntaxWarning</a:t>
            </a:r>
            <a:r>
              <a:rPr lang="en-US" dirty="0"/>
              <a:t>: invalid escape sequence '\.'</a:t>
            </a:r>
          </a:p>
          <a:p>
            <a:r>
              <a:rPr lang="en-US" dirty="0"/>
              <a:t>  """Configuration class for applying different quantization configs to modules or parameters based on their fully qualified names (FQNs).</a:t>
            </a:r>
          </a:p>
          <a:p>
            <a:r>
              <a:rPr lang="en-US" dirty="0"/>
              <a:t>/</a:t>
            </a:r>
            <a:r>
              <a:rPr lang="en-US" dirty="0" err="1"/>
              <a:t>sgl</a:t>
            </a:r>
            <a:r>
              <a:rPr lang="en-US" dirty="0"/>
              <a:t>-workspace/</a:t>
            </a:r>
            <a:r>
              <a:rPr lang="en-US" dirty="0" err="1"/>
              <a:t>sglang</a:t>
            </a:r>
            <a:r>
              <a:rPr lang="en-US" dirty="0"/>
              <a:t>/python/</a:t>
            </a:r>
            <a:r>
              <a:rPr lang="en-US" dirty="0" err="1"/>
              <a:t>sglang</a:t>
            </a:r>
            <a:r>
              <a:rPr lang="en-US" dirty="0"/>
              <a:t>/</a:t>
            </a:r>
            <a:r>
              <a:rPr lang="en-US" dirty="0" err="1"/>
              <a:t>srt</a:t>
            </a:r>
            <a:r>
              <a:rPr lang="en-US" dirty="0"/>
              <a:t>/layers/attention/</a:t>
            </a:r>
            <a:r>
              <a:rPr lang="en-US" dirty="0" err="1"/>
              <a:t>fla</a:t>
            </a:r>
            <a:r>
              <a:rPr lang="en-US" dirty="0"/>
              <a:t>/utils.py:223: </a:t>
            </a:r>
            <a:r>
              <a:rPr lang="en-US" dirty="0" err="1"/>
              <a:t>UserWarning</a:t>
            </a:r>
            <a:r>
              <a:rPr lang="en-US" dirty="0"/>
              <a:t>: Triton is not supported on current platform, roll back to CPU.</a:t>
            </a:r>
          </a:p>
          <a:p>
            <a:r>
              <a:rPr lang="en-US" dirty="0"/>
              <a:t>  </a:t>
            </a:r>
            <a:r>
              <a:rPr lang="en-US" dirty="0" err="1"/>
              <a:t>warnings.warn</a:t>
            </a:r>
            <a:r>
              <a:rPr lang="en-US" dirty="0"/>
              <a:t>(</a:t>
            </a:r>
          </a:p>
          <a:p>
            <a:r>
              <a:rPr lang="en-US" dirty="0"/>
              <a:t>Warning: You are sending unauthenticated requests to the HF Hub. Please set a HF_TOKEN to enable higher rate limits and faster downloads.</a:t>
            </a:r>
          </a:p>
          <a:p>
            <a:r>
              <a:rPr lang="en-US" dirty="0" err="1"/>
              <a:t>benchmark_args</a:t>
            </a:r>
            <a:r>
              <a:rPr lang="en-US" dirty="0"/>
              <a:t>=Namespace(backend='</a:t>
            </a:r>
            <a:r>
              <a:rPr lang="en-US" dirty="0" err="1"/>
              <a:t>sglang</a:t>
            </a:r>
            <a:r>
              <a:rPr lang="en-US" dirty="0"/>
              <a:t>-</a:t>
            </a:r>
            <a:r>
              <a:rPr lang="en-US" dirty="0" err="1"/>
              <a:t>oai</a:t>
            </a:r>
            <a:r>
              <a:rPr lang="en-US" dirty="0"/>
              <a:t>-chat', </a:t>
            </a:r>
            <a:r>
              <a:rPr lang="en-US" dirty="0" err="1"/>
              <a:t>base_url</a:t>
            </a:r>
            <a:r>
              <a:rPr lang="en-US" dirty="0"/>
              <a:t>=None, host='aggregation-</a:t>
            </a:r>
            <a:r>
              <a:rPr lang="en-US" dirty="0" err="1"/>
              <a:t>epp</a:t>
            </a:r>
            <a:r>
              <a:rPr lang="en-US" dirty="0"/>
              <a:t>', port=80, </a:t>
            </a:r>
            <a:r>
              <a:rPr lang="en-US" dirty="0" err="1"/>
              <a:t>ready_check_timeout_sec</a:t>
            </a:r>
            <a:r>
              <a:rPr lang="en-US" dirty="0"/>
              <a:t>=60, </a:t>
            </a:r>
            <a:r>
              <a:rPr lang="en-US" dirty="0" err="1"/>
              <a:t>dataset_name</a:t>
            </a:r>
            <a:r>
              <a:rPr lang="en-US" dirty="0"/>
              <a:t>='random', </a:t>
            </a:r>
            <a:r>
              <a:rPr lang="en-US" dirty="0" err="1"/>
              <a:t>dataset_path</a:t>
            </a:r>
            <a:r>
              <a:rPr lang="en-US" dirty="0"/>
              <a:t>='', </a:t>
            </a:r>
            <a:r>
              <a:rPr lang="en-US" dirty="0" err="1"/>
              <a:t>speed_bench_category</a:t>
            </a:r>
            <a:r>
              <a:rPr lang="en-US" dirty="0"/>
              <a:t>=None, </a:t>
            </a:r>
            <a:r>
              <a:rPr lang="en-US" dirty="0" err="1"/>
              <a:t>speed_bench_output_len</a:t>
            </a:r>
            <a:r>
              <a:rPr lang="en-US" dirty="0"/>
              <a:t>=512, model='Qwen/Qwen3-VL-235B-A22B-Instruct-FP8', </a:t>
            </a:r>
            <a:r>
              <a:rPr lang="en-US" dirty="0" err="1"/>
              <a:t>served_model_name</a:t>
            </a:r>
            <a:r>
              <a:rPr lang="en-US" dirty="0"/>
              <a:t>=None, tokenizer=None, </a:t>
            </a:r>
            <a:r>
              <a:rPr lang="en-US" dirty="0" err="1"/>
              <a:t>num_prompts</a:t>
            </a:r>
            <a:r>
              <a:rPr lang="en-US" dirty="0"/>
              <a:t>=1200, </a:t>
            </a:r>
            <a:r>
              <a:rPr lang="en-US" dirty="0" err="1"/>
              <a:t>sharegpt_output_len</a:t>
            </a:r>
            <a:r>
              <a:rPr lang="en-US" dirty="0"/>
              <a:t>=None, </a:t>
            </a:r>
            <a:r>
              <a:rPr lang="en-US" dirty="0" err="1"/>
              <a:t>sharegpt_context_len</a:t>
            </a:r>
            <a:r>
              <a:rPr lang="en-US" dirty="0"/>
              <a:t>=None, </a:t>
            </a:r>
            <a:r>
              <a:rPr lang="en-US" dirty="0" err="1"/>
              <a:t>random_input_len</a:t>
            </a:r>
            <a:r>
              <a:rPr lang="en-US" dirty="0"/>
              <a:t>=128, </a:t>
            </a:r>
            <a:r>
              <a:rPr lang="en-US" dirty="0" err="1"/>
              <a:t>random_output_len</a:t>
            </a:r>
            <a:r>
              <a:rPr lang="en-US" dirty="0"/>
              <a:t>=128, </a:t>
            </a:r>
            <a:r>
              <a:rPr lang="en-US" dirty="0" err="1"/>
              <a:t>random_range_ratio</a:t>
            </a:r>
            <a:r>
              <a:rPr lang="en-US" dirty="0"/>
              <a:t>=1.0, </a:t>
            </a:r>
            <a:r>
              <a:rPr lang="en-US" dirty="0" err="1"/>
              <a:t>image_count</a:t>
            </a:r>
            <a:r>
              <a:rPr lang="en-US" dirty="0"/>
              <a:t>=8, </a:t>
            </a:r>
            <a:r>
              <a:rPr lang="en-US" dirty="0" err="1"/>
              <a:t>image_resolution</a:t>
            </a:r>
            <a:r>
              <a:rPr lang="en-US" dirty="0"/>
              <a:t>='1080p', </a:t>
            </a:r>
            <a:r>
              <a:rPr lang="en-US" dirty="0" err="1"/>
              <a:t>random_image_count</a:t>
            </a:r>
            <a:r>
              <a:rPr lang="en-US" dirty="0"/>
              <a:t>=False, </a:t>
            </a:r>
            <a:r>
              <a:rPr lang="en-US" dirty="0" err="1"/>
              <a:t>image_format</a:t>
            </a:r>
            <a:r>
              <a:rPr lang="en-US" dirty="0"/>
              <a:t>='jpeg', </a:t>
            </a:r>
            <a:r>
              <a:rPr lang="en-US" dirty="0" err="1"/>
              <a:t>image_content</a:t>
            </a:r>
            <a:r>
              <a:rPr lang="en-US" dirty="0"/>
              <a:t>='random', </a:t>
            </a:r>
            <a:r>
              <a:rPr lang="en-US" dirty="0" err="1"/>
              <a:t>request_rate</a:t>
            </a:r>
            <a:r>
              <a:rPr lang="en-US" dirty="0"/>
              <a:t>=20.0, </a:t>
            </a:r>
            <a:r>
              <a:rPr lang="en-US" dirty="0" err="1"/>
              <a:t>use_trace_timestamps</a:t>
            </a:r>
            <a:r>
              <a:rPr lang="en-US" dirty="0"/>
              <a:t>=False, </a:t>
            </a:r>
            <a:r>
              <a:rPr lang="en-US" dirty="0" err="1"/>
              <a:t>max_concurrency</a:t>
            </a:r>
            <a:r>
              <a:rPr lang="en-US" dirty="0"/>
              <a:t>=None, </a:t>
            </a:r>
            <a:r>
              <a:rPr lang="en-US" dirty="0" err="1"/>
              <a:t>output_file</a:t>
            </a:r>
            <a:r>
              <a:rPr lang="en-US" dirty="0"/>
              <a:t>=None, </a:t>
            </a:r>
            <a:r>
              <a:rPr lang="en-US" dirty="0" err="1"/>
              <a:t>output_details</a:t>
            </a:r>
            <a:r>
              <a:rPr lang="en-US" dirty="0"/>
              <a:t>=False, </a:t>
            </a:r>
            <a:r>
              <a:rPr lang="en-US" dirty="0" err="1"/>
              <a:t>print_requests</a:t>
            </a:r>
            <a:r>
              <a:rPr lang="en-US" dirty="0"/>
              <a:t>=False, </a:t>
            </a:r>
            <a:r>
              <a:rPr lang="en-US" dirty="0" err="1"/>
              <a:t>disable_tqdm</a:t>
            </a:r>
            <a:r>
              <a:rPr lang="en-US" dirty="0"/>
              <a:t>=False, </a:t>
            </a:r>
            <a:r>
              <a:rPr lang="en-US" dirty="0" err="1"/>
              <a:t>disable_stream</a:t>
            </a:r>
            <a:r>
              <a:rPr lang="en-US" dirty="0"/>
              <a:t>=False, </a:t>
            </a:r>
            <a:r>
              <a:rPr lang="en-US" dirty="0" err="1"/>
              <a:t>return_logprob</a:t>
            </a:r>
            <a:r>
              <a:rPr lang="en-US" dirty="0"/>
              <a:t>=False, </a:t>
            </a:r>
            <a:r>
              <a:rPr lang="en-US" dirty="0" err="1"/>
              <a:t>top_logprobs_num</a:t>
            </a:r>
            <a:r>
              <a:rPr lang="en-US" dirty="0"/>
              <a:t>=0, </a:t>
            </a:r>
            <a:r>
              <a:rPr lang="en-US" dirty="0" err="1"/>
              <a:t>token_ids_logprob</a:t>
            </a:r>
            <a:r>
              <a:rPr lang="en-US" dirty="0"/>
              <a:t>=None, </a:t>
            </a:r>
            <a:r>
              <a:rPr lang="en-US" dirty="0" err="1"/>
              <a:t>logprob_start_len</a:t>
            </a:r>
            <a:r>
              <a:rPr lang="en-US" dirty="0"/>
              <a:t>=-1, </a:t>
            </a:r>
            <a:r>
              <a:rPr lang="en-US" dirty="0" err="1"/>
              <a:t>return_routed_experts</a:t>
            </a:r>
            <a:r>
              <a:rPr lang="en-US" dirty="0"/>
              <a:t>=False, </a:t>
            </a:r>
            <a:r>
              <a:rPr lang="en-US" dirty="0" err="1"/>
              <a:t>cache_report</a:t>
            </a:r>
            <a:r>
              <a:rPr lang="en-US" dirty="0"/>
              <a:t>=False, seed=42, </a:t>
            </a:r>
            <a:r>
              <a:rPr lang="en-US" dirty="0" err="1"/>
              <a:t>disable_ignore_eos</a:t>
            </a:r>
            <a:r>
              <a:rPr lang="en-US" dirty="0"/>
              <a:t>=False, temperature=0.0, </a:t>
            </a:r>
            <a:r>
              <a:rPr lang="en-US" dirty="0" err="1"/>
              <a:t>top_p</a:t>
            </a:r>
            <a:r>
              <a:rPr lang="en-US" dirty="0"/>
              <a:t>=1.0, </a:t>
            </a:r>
            <a:r>
              <a:rPr lang="en-US" dirty="0" err="1"/>
              <a:t>extra_request_body</a:t>
            </a:r>
            <a:r>
              <a:rPr lang="en-US" dirty="0"/>
              <a:t>='{"</a:t>
            </a:r>
            <a:r>
              <a:rPr lang="en-US" dirty="0" err="1"/>
              <a:t>ignore_eos</a:t>
            </a:r>
            <a:r>
              <a:rPr lang="en-US" dirty="0"/>
              <a:t>": true}', </a:t>
            </a:r>
            <a:r>
              <a:rPr lang="en-US" dirty="0" err="1"/>
              <a:t>apply_chat_template</a:t>
            </a:r>
            <a:r>
              <a:rPr lang="en-US" dirty="0"/>
              <a:t>=False, profile=False, </a:t>
            </a:r>
            <a:r>
              <a:rPr lang="en-US" dirty="0" err="1"/>
              <a:t>plot_throughput</a:t>
            </a:r>
            <a:r>
              <a:rPr lang="en-US" dirty="0"/>
              <a:t>=False, </a:t>
            </a:r>
            <a:r>
              <a:rPr lang="en-US" dirty="0" err="1"/>
              <a:t>profile_activities</a:t>
            </a:r>
            <a:r>
              <a:rPr lang="en-US" dirty="0"/>
              <a:t>=['CPU', 'GPU'], </a:t>
            </a:r>
            <a:r>
              <a:rPr lang="en-US" dirty="0" err="1"/>
              <a:t>profile_start_step</a:t>
            </a:r>
            <a:r>
              <a:rPr lang="en-US" dirty="0"/>
              <a:t>=None, </a:t>
            </a:r>
            <a:r>
              <a:rPr lang="en-US" dirty="0" err="1"/>
              <a:t>profile_steps</a:t>
            </a:r>
            <a:r>
              <a:rPr lang="en-US" dirty="0"/>
              <a:t>=None, </a:t>
            </a:r>
            <a:r>
              <a:rPr lang="en-US" dirty="0" err="1"/>
              <a:t>profile_num_steps</a:t>
            </a:r>
            <a:r>
              <a:rPr lang="en-US" dirty="0"/>
              <a:t>=None, </a:t>
            </a:r>
            <a:r>
              <a:rPr lang="en-US" dirty="0" err="1"/>
              <a:t>profile_by_stage</a:t>
            </a:r>
            <a:r>
              <a:rPr lang="en-US" dirty="0"/>
              <a:t>=False, </a:t>
            </a:r>
            <a:r>
              <a:rPr lang="en-US" dirty="0" err="1"/>
              <a:t>profile_stages</a:t>
            </a:r>
            <a:r>
              <a:rPr lang="en-US" dirty="0"/>
              <a:t>=None, </a:t>
            </a:r>
            <a:r>
              <a:rPr lang="en-US" dirty="0" err="1"/>
              <a:t>profile_output_dir</a:t>
            </a:r>
            <a:r>
              <a:rPr lang="en-US" dirty="0"/>
              <a:t>=None, </a:t>
            </a:r>
            <a:r>
              <a:rPr lang="en-US" dirty="0" err="1"/>
              <a:t>profile_prefix</a:t>
            </a:r>
            <a:r>
              <a:rPr lang="en-US" dirty="0"/>
              <a:t>=None, </a:t>
            </a:r>
            <a:r>
              <a:rPr lang="en-US" dirty="0" err="1"/>
              <a:t>lora_name</a:t>
            </a:r>
            <a:r>
              <a:rPr lang="en-US" dirty="0"/>
              <a:t>=None, </a:t>
            </a:r>
            <a:r>
              <a:rPr lang="en-US" dirty="0" err="1"/>
              <a:t>lora_request_distribution</a:t>
            </a:r>
            <a:r>
              <a:rPr lang="en-US" dirty="0"/>
              <a:t>='uniform', </a:t>
            </a:r>
            <a:r>
              <a:rPr lang="en-US" dirty="0" err="1"/>
              <a:t>lora_zipf_alpha</a:t>
            </a:r>
            <a:r>
              <a:rPr lang="en-US" dirty="0"/>
              <a:t>=1.5, </a:t>
            </a:r>
            <a:r>
              <a:rPr lang="en-US" dirty="0" err="1"/>
              <a:t>prompt_suffix</a:t>
            </a:r>
            <a:r>
              <a:rPr lang="en-US" dirty="0"/>
              <a:t>='', </a:t>
            </a:r>
            <a:r>
              <a:rPr lang="en-US" dirty="0" err="1"/>
              <a:t>pd_separated</a:t>
            </a:r>
            <a:r>
              <a:rPr lang="en-US" dirty="0"/>
              <a:t>=False, </a:t>
            </a:r>
            <a:r>
              <a:rPr lang="en-US" dirty="0" err="1"/>
              <a:t>profile_prefill_url</a:t>
            </a:r>
            <a:r>
              <a:rPr lang="en-US" dirty="0"/>
              <a:t>=None, </a:t>
            </a:r>
            <a:r>
              <a:rPr lang="en-US" dirty="0" err="1"/>
              <a:t>profile_decode_url</a:t>
            </a:r>
            <a:r>
              <a:rPr lang="en-US" dirty="0"/>
              <a:t>=None, </a:t>
            </a:r>
            <a:r>
              <a:rPr lang="en-US" dirty="0" err="1"/>
              <a:t>flush_cache</a:t>
            </a:r>
            <a:r>
              <a:rPr lang="en-US" dirty="0"/>
              <a:t>=False, </a:t>
            </a:r>
            <a:r>
              <a:rPr lang="en-US" dirty="0" err="1"/>
              <a:t>warmup_requests</a:t>
            </a:r>
            <a:r>
              <a:rPr lang="en-US" dirty="0"/>
              <a:t>=1, </a:t>
            </a:r>
            <a:r>
              <a:rPr lang="en-US" dirty="0" err="1"/>
              <a:t>tokenize_prompt</a:t>
            </a:r>
            <a:r>
              <a:rPr lang="en-US" dirty="0"/>
              <a:t>=False, </a:t>
            </a:r>
            <a:r>
              <a:rPr lang="en-US" dirty="0" err="1"/>
              <a:t>gsp_num_groups</a:t>
            </a:r>
            <a:r>
              <a:rPr lang="en-US" dirty="0"/>
              <a:t>=64, </a:t>
            </a:r>
            <a:r>
              <a:rPr lang="en-US" dirty="0" err="1"/>
              <a:t>gsp_prompts_per_group</a:t>
            </a:r>
            <a:r>
              <a:rPr lang="en-US" dirty="0"/>
              <a:t>=16, </a:t>
            </a:r>
            <a:r>
              <a:rPr lang="en-US" dirty="0" err="1"/>
              <a:t>gsp_system_prompt_len</a:t>
            </a:r>
            <a:r>
              <a:rPr lang="en-US" dirty="0"/>
              <a:t>=2048, </a:t>
            </a:r>
            <a:r>
              <a:rPr lang="en-US" dirty="0" err="1"/>
              <a:t>gsp_question_len</a:t>
            </a:r>
            <a:r>
              <a:rPr lang="en-US" dirty="0"/>
              <a:t>=128, </a:t>
            </a:r>
            <a:r>
              <a:rPr lang="en-US" dirty="0" err="1"/>
              <a:t>gsp_output_len</a:t>
            </a:r>
            <a:r>
              <a:rPr lang="en-US" dirty="0"/>
              <a:t>=256, </a:t>
            </a:r>
            <a:r>
              <a:rPr lang="en-US" dirty="0" err="1"/>
              <a:t>gsp_range_ratio</a:t>
            </a:r>
            <a:r>
              <a:rPr lang="en-US" dirty="0"/>
              <a:t>=1.0, </a:t>
            </a:r>
            <a:r>
              <a:rPr lang="en-US" dirty="0" err="1"/>
              <a:t>gsp_fast_prepare</a:t>
            </a:r>
            <a:r>
              <a:rPr lang="en-US" dirty="0"/>
              <a:t>=False, </a:t>
            </a:r>
            <a:r>
              <a:rPr lang="en-US" dirty="0" err="1"/>
              <a:t>gsp_send_routing_key</a:t>
            </a:r>
            <a:r>
              <a:rPr lang="en-US" dirty="0"/>
              <a:t>=False, </a:t>
            </a:r>
            <a:r>
              <a:rPr lang="en-US" dirty="0" err="1"/>
              <a:t>gsp_num_turns</a:t>
            </a:r>
            <a:r>
              <a:rPr lang="en-US" dirty="0"/>
              <a:t>=1, </a:t>
            </a:r>
            <a:r>
              <a:rPr lang="en-US" dirty="0" err="1"/>
              <a:t>gsp_ordered</a:t>
            </a:r>
            <a:r>
              <a:rPr lang="en-US" dirty="0"/>
              <a:t>=False, </a:t>
            </a:r>
            <a:r>
              <a:rPr lang="en-US" dirty="0" err="1"/>
              <a:t>gsp_group_distribution</a:t>
            </a:r>
            <a:r>
              <a:rPr lang="en-US" dirty="0"/>
              <a:t>='uniform', </a:t>
            </a:r>
            <a:r>
              <a:rPr lang="en-US" dirty="0" err="1"/>
              <a:t>gsp_zipf_alpha</a:t>
            </a:r>
            <a:r>
              <a:rPr lang="en-US" dirty="0"/>
              <a:t>=None, </a:t>
            </a:r>
            <a:r>
              <a:rPr lang="en-US" dirty="0" err="1"/>
              <a:t>mooncake_slowdown_factor</a:t>
            </a:r>
            <a:r>
              <a:rPr lang="en-US" dirty="0"/>
              <a:t>=1.0, </a:t>
            </a:r>
            <a:r>
              <a:rPr lang="en-US" dirty="0" err="1"/>
              <a:t>mooncake_num_rounds</a:t>
            </a:r>
            <a:r>
              <a:rPr lang="en-US" dirty="0"/>
              <a:t>=1, </a:t>
            </a:r>
            <a:r>
              <a:rPr lang="en-US" dirty="0" err="1"/>
              <a:t>mooncake_workload</a:t>
            </a:r>
            <a:r>
              <a:rPr lang="en-US" dirty="0"/>
              <a:t>='conversation', </a:t>
            </a:r>
            <a:r>
              <a:rPr lang="en-US" dirty="0" err="1"/>
              <a:t>fake_prefill</a:t>
            </a:r>
            <a:r>
              <a:rPr lang="en-US" dirty="0"/>
              <a:t>=False, tag=None, header=None)</a:t>
            </a:r>
          </a:p>
          <a:p>
            <a:r>
              <a:rPr lang="en-US" dirty="0"/>
              <a:t>Waiting up to 60s for http://aggregation-epp:80/v1/models to become ready...</a:t>
            </a:r>
          </a:p>
          <a:p>
            <a:r>
              <a:rPr lang="en-US" dirty="0"/>
              <a:t>Server ready in 0.0s.</a:t>
            </a:r>
          </a:p>
          <a:p>
            <a:r>
              <a:rPr lang="en-US" dirty="0"/>
              <a:t>Namespace(backend='</a:t>
            </a:r>
            <a:r>
              <a:rPr lang="en-US" dirty="0" err="1"/>
              <a:t>sglang</a:t>
            </a:r>
            <a:r>
              <a:rPr lang="en-US" dirty="0"/>
              <a:t>-</a:t>
            </a:r>
            <a:r>
              <a:rPr lang="en-US" dirty="0" err="1"/>
              <a:t>oai</a:t>
            </a:r>
            <a:r>
              <a:rPr lang="en-US" dirty="0"/>
              <a:t>-chat', </a:t>
            </a:r>
            <a:r>
              <a:rPr lang="en-US" dirty="0" err="1"/>
              <a:t>base_url</a:t>
            </a:r>
            <a:r>
              <a:rPr lang="en-US" dirty="0"/>
              <a:t>=None, host='aggregation-</a:t>
            </a:r>
            <a:r>
              <a:rPr lang="en-US" dirty="0" err="1"/>
              <a:t>epp</a:t>
            </a:r>
            <a:r>
              <a:rPr lang="en-US" dirty="0"/>
              <a:t>', port=80, </a:t>
            </a:r>
            <a:r>
              <a:rPr lang="en-US" dirty="0" err="1"/>
              <a:t>ready_check_timeout_sec</a:t>
            </a:r>
            <a:r>
              <a:rPr lang="en-US" dirty="0"/>
              <a:t>=60, </a:t>
            </a:r>
            <a:r>
              <a:rPr lang="en-US" dirty="0" err="1"/>
              <a:t>dataset_name</a:t>
            </a:r>
            <a:r>
              <a:rPr lang="en-US" dirty="0"/>
              <a:t>='random', </a:t>
            </a:r>
            <a:r>
              <a:rPr lang="en-US" dirty="0" err="1"/>
              <a:t>dataset_path</a:t>
            </a:r>
            <a:r>
              <a:rPr lang="en-US" dirty="0"/>
              <a:t>='', </a:t>
            </a:r>
            <a:r>
              <a:rPr lang="en-US" dirty="0" err="1"/>
              <a:t>speed_bench_category</a:t>
            </a:r>
            <a:r>
              <a:rPr lang="en-US" dirty="0"/>
              <a:t>=None, </a:t>
            </a:r>
            <a:r>
              <a:rPr lang="en-US" dirty="0" err="1"/>
              <a:t>speed_bench_output_len</a:t>
            </a:r>
            <a:r>
              <a:rPr lang="en-US" dirty="0"/>
              <a:t>=512, model='Qwen/Qwen3-VL-235B-A22B-Instruct-FP8', </a:t>
            </a:r>
            <a:r>
              <a:rPr lang="en-US" dirty="0" err="1"/>
              <a:t>served_model_name</a:t>
            </a:r>
            <a:r>
              <a:rPr lang="en-US" dirty="0"/>
              <a:t>=None, tokenizer=None, </a:t>
            </a:r>
            <a:r>
              <a:rPr lang="en-US" dirty="0" err="1"/>
              <a:t>num_prompts</a:t>
            </a:r>
            <a:r>
              <a:rPr lang="en-US" dirty="0"/>
              <a:t>=1200, </a:t>
            </a:r>
            <a:r>
              <a:rPr lang="en-US" dirty="0" err="1"/>
              <a:t>sharegpt_output_len</a:t>
            </a:r>
            <a:r>
              <a:rPr lang="en-US" dirty="0"/>
              <a:t>=None, </a:t>
            </a:r>
            <a:r>
              <a:rPr lang="en-US" dirty="0" err="1"/>
              <a:t>sharegpt_context_len</a:t>
            </a:r>
            <a:r>
              <a:rPr lang="en-US" dirty="0"/>
              <a:t>=None, </a:t>
            </a:r>
            <a:r>
              <a:rPr lang="en-US" dirty="0" err="1"/>
              <a:t>random_input_len</a:t>
            </a:r>
            <a:r>
              <a:rPr lang="en-US" dirty="0"/>
              <a:t>=128, </a:t>
            </a:r>
            <a:r>
              <a:rPr lang="en-US" dirty="0" err="1"/>
              <a:t>random_output_len</a:t>
            </a:r>
            <a:r>
              <a:rPr lang="en-US" dirty="0"/>
              <a:t>=128, </a:t>
            </a:r>
            <a:r>
              <a:rPr lang="en-US" dirty="0" err="1"/>
              <a:t>random_range_ratio</a:t>
            </a:r>
            <a:r>
              <a:rPr lang="en-US" dirty="0"/>
              <a:t>=1.0, </a:t>
            </a:r>
            <a:r>
              <a:rPr lang="en-US" dirty="0" err="1"/>
              <a:t>image_count</a:t>
            </a:r>
            <a:r>
              <a:rPr lang="en-US" dirty="0"/>
              <a:t>=8, </a:t>
            </a:r>
            <a:r>
              <a:rPr lang="en-US" dirty="0" err="1"/>
              <a:t>image_resolution</a:t>
            </a:r>
            <a:r>
              <a:rPr lang="en-US" dirty="0"/>
              <a:t>='1080p', </a:t>
            </a:r>
            <a:r>
              <a:rPr lang="en-US" dirty="0" err="1"/>
              <a:t>random_image_count</a:t>
            </a:r>
            <a:r>
              <a:rPr lang="en-US" dirty="0"/>
              <a:t>=False, </a:t>
            </a:r>
            <a:r>
              <a:rPr lang="en-US" dirty="0" err="1"/>
              <a:t>image_format</a:t>
            </a:r>
            <a:r>
              <a:rPr lang="en-US" dirty="0"/>
              <a:t>='jpeg', </a:t>
            </a:r>
            <a:r>
              <a:rPr lang="en-US" dirty="0" err="1"/>
              <a:t>image_content</a:t>
            </a:r>
            <a:r>
              <a:rPr lang="en-US" dirty="0"/>
              <a:t>='random', </a:t>
            </a:r>
            <a:r>
              <a:rPr lang="en-US" dirty="0" err="1"/>
              <a:t>request_rate</a:t>
            </a:r>
            <a:r>
              <a:rPr lang="en-US" dirty="0"/>
              <a:t>=20.0, </a:t>
            </a:r>
            <a:r>
              <a:rPr lang="en-US" dirty="0" err="1"/>
              <a:t>use_trace_timestamps</a:t>
            </a:r>
            <a:r>
              <a:rPr lang="en-US" dirty="0"/>
              <a:t>=False, </a:t>
            </a:r>
            <a:r>
              <a:rPr lang="en-US" dirty="0" err="1"/>
              <a:t>max_concurrency</a:t>
            </a:r>
            <a:r>
              <a:rPr lang="en-US" dirty="0"/>
              <a:t>=None, </a:t>
            </a:r>
            <a:r>
              <a:rPr lang="en-US" dirty="0" err="1"/>
              <a:t>output_file</a:t>
            </a:r>
            <a:r>
              <a:rPr lang="en-US" dirty="0"/>
              <a:t>=None, </a:t>
            </a:r>
            <a:r>
              <a:rPr lang="en-US" dirty="0" err="1"/>
              <a:t>output_details</a:t>
            </a:r>
            <a:r>
              <a:rPr lang="en-US" dirty="0"/>
              <a:t>=False, </a:t>
            </a:r>
            <a:r>
              <a:rPr lang="en-US" dirty="0" err="1"/>
              <a:t>print_requests</a:t>
            </a:r>
            <a:r>
              <a:rPr lang="en-US" dirty="0"/>
              <a:t>=False, </a:t>
            </a:r>
            <a:r>
              <a:rPr lang="en-US" dirty="0" err="1"/>
              <a:t>disable_tqdm</a:t>
            </a:r>
            <a:r>
              <a:rPr lang="en-US" dirty="0"/>
              <a:t>=False, </a:t>
            </a:r>
            <a:r>
              <a:rPr lang="en-US" dirty="0" err="1"/>
              <a:t>disable_stream</a:t>
            </a:r>
            <a:r>
              <a:rPr lang="en-US" dirty="0"/>
              <a:t>=False, </a:t>
            </a:r>
            <a:r>
              <a:rPr lang="en-US" dirty="0" err="1"/>
              <a:t>return_logprob</a:t>
            </a:r>
            <a:r>
              <a:rPr lang="en-US" dirty="0"/>
              <a:t>=False, </a:t>
            </a:r>
            <a:r>
              <a:rPr lang="en-US" dirty="0" err="1"/>
              <a:t>top_logprobs_num</a:t>
            </a:r>
            <a:r>
              <a:rPr lang="en-US" dirty="0"/>
              <a:t>=0, </a:t>
            </a:r>
            <a:r>
              <a:rPr lang="en-US" dirty="0" err="1"/>
              <a:t>token_ids_logprob</a:t>
            </a:r>
            <a:r>
              <a:rPr lang="en-US" dirty="0"/>
              <a:t>=None, </a:t>
            </a:r>
            <a:r>
              <a:rPr lang="en-US" dirty="0" err="1"/>
              <a:t>logprob_start_len</a:t>
            </a:r>
            <a:r>
              <a:rPr lang="en-US" dirty="0"/>
              <a:t>=-1, </a:t>
            </a:r>
            <a:r>
              <a:rPr lang="en-US" dirty="0" err="1"/>
              <a:t>return_routed_experts</a:t>
            </a:r>
            <a:r>
              <a:rPr lang="en-US" dirty="0"/>
              <a:t>=False, </a:t>
            </a:r>
            <a:r>
              <a:rPr lang="en-US" dirty="0" err="1"/>
              <a:t>cache_report</a:t>
            </a:r>
            <a:r>
              <a:rPr lang="en-US" dirty="0"/>
              <a:t>=False, seed=42, </a:t>
            </a:r>
            <a:r>
              <a:rPr lang="en-US" dirty="0" err="1"/>
              <a:t>disable_ignore_eos</a:t>
            </a:r>
            <a:r>
              <a:rPr lang="en-US" dirty="0"/>
              <a:t>=False, temperature=0.0, </a:t>
            </a:r>
            <a:r>
              <a:rPr lang="en-US" dirty="0" err="1"/>
              <a:t>top_p</a:t>
            </a:r>
            <a:r>
              <a:rPr lang="en-US" dirty="0"/>
              <a:t>=1.0, </a:t>
            </a:r>
            <a:r>
              <a:rPr lang="en-US" dirty="0" err="1"/>
              <a:t>extra_request_body</a:t>
            </a:r>
            <a:r>
              <a:rPr lang="en-US" dirty="0"/>
              <a:t>='{"</a:t>
            </a:r>
            <a:r>
              <a:rPr lang="en-US" dirty="0" err="1"/>
              <a:t>ignore_eos</a:t>
            </a:r>
            <a:r>
              <a:rPr lang="en-US" dirty="0"/>
              <a:t>": true}', </a:t>
            </a:r>
            <a:r>
              <a:rPr lang="en-US" dirty="0" err="1"/>
              <a:t>apply_chat_template</a:t>
            </a:r>
            <a:r>
              <a:rPr lang="en-US" dirty="0"/>
              <a:t>=False, profile=False, </a:t>
            </a:r>
            <a:r>
              <a:rPr lang="en-US" dirty="0" err="1"/>
              <a:t>plot_throughput</a:t>
            </a:r>
            <a:r>
              <a:rPr lang="en-US" dirty="0"/>
              <a:t>=False, </a:t>
            </a:r>
            <a:r>
              <a:rPr lang="en-US" dirty="0" err="1"/>
              <a:t>profile_activities</a:t>
            </a:r>
            <a:r>
              <a:rPr lang="en-US" dirty="0"/>
              <a:t>=['CPU', 'GPU'], </a:t>
            </a:r>
            <a:r>
              <a:rPr lang="en-US" dirty="0" err="1"/>
              <a:t>profile_start_step</a:t>
            </a:r>
            <a:r>
              <a:rPr lang="en-US" dirty="0"/>
              <a:t>=None, </a:t>
            </a:r>
            <a:r>
              <a:rPr lang="en-US" dirty="0" err="1"/>
              <a:t>profile_steps</a:t>
            </a:r>
            <a:r>
              <a:rPr lang="en-US" dirty="0"/>
              <a:t>=None, </a:t>
            </a:r>
            <a:r>
              <a:rPr lang="en-US" dirty="0" err="1"/>
              <a:t>profile_num_steps</a:t>
            </a:r>
            <a:r>
              <a:rPr lang="en-US" dirty="0"/>
              <a:t>=None, </a:t>
            </a:r>
            <a:r>
              <a:rPr lang="en-US" dirty="0" err="1"/>
              <a:t>profile_by_stage</a:t>
            </a:r>
            <a:r>
              <a:rPr lang="en-US" dirty="0"/>
              <a:t>=False, </a:t>
            </a:r>
            <a:r>
              <a:rPr lang="en-US" dirty="0" err="1"/>
              <a:t>profile_stages</a:t>
            </a:r>
            <a:r>
              <a:rPr lang="en-US" dirty="0"/>
              <a:t>=None, </a:t>
            </a:r>
            <a:r>
              <a:rPr lang="en-US" dirty="0" err="1"/>
              <a:t>profile_output_dir</a:t>
            </a:r>
            <a:r>
              <a:rPr lang="en-US" dirty="0"/>
              <a:t>=None, </a:t>
            </a:r>
            <a:r>
              <a:rPr lang="en-US" dirty="0" err="1"/>
              <a:t>profile_prefix</a:t>
            </a:r>
            <a:r>
              <a:rPr lang="en-US" dirty="0"/>
              <a:t>=None, </a:t>
            </a:r>
            <a:r>
              <a:rPr lang="en-US" dirty="0" err="1"/>
              <a:t>lora_name</a:t>
            </a:r>
            <a:r>
              <a:rPr lang="en-US" dirty="0"/>
              <a:t>=None, </a:t>
            </a:r>
            <a:r>
              <a:rPr lang="en-US" dirty="0" err="1"/>
              <a:t>lora_request_distribution</a:t>
            </a:r>
            <a:r>
              <a:rPr lang="en-US" dirty="0"/>
              <a:t>='uniform', </a:t>
            </a:r>
            <a:r>
              <a:rPr lang="en-US" dirty="0" err="1"/>
              <a:t>lora_zipf_alpha</a:t>
            </a:r>
            <a:r>
              <a:rPr lang="en-US" dirty="0"/>
              <a:t>=1.5, </a:t>
            </a:r>
            <a:r>
              <a:rPr lang="en-US" dirty="0" err="1"/>
              <a:t>prompt_suffix</a:t>
            </a:r>
            <a:r>
              <a:rPr lang="en-US" dirty="0"/>
              <a:t>='', </a:t>
            </a:r>
            <a:r>
              <a:rPr lang="en-US" dirty="0" err="1"/>
              <a:t>pd_separated</a:t>
            </a:r>
            <a:r>
              <a:rPr lang="en-US" dirty="0"/>
              <a:t>=False, </a:t>
            </a:r>
            <a:r>
              <a:rPr lang="en-US" dirty="0" err="1"/>
              <a:t>profile_prefill_url</a:t>
            </a:r>
            <a:r>
              <a:rPr lang="en-US" dirty="0"/>
              <a:t>=None, </a:t>
            </a:r>
            <a:r>
              <a:rPr lang="en-US" dirty="0" err="1"/>
              <a:t>profile_decode_url</a:t>
            </a:r>
            <a:r>
              <a:rPr lang="en-US" dirty="0"/>
              <a:t>=None, </a:t>
            </a:r>
            <a:r>
              <a:rPr lang="en-US" dirty="0" err="1"/>
              <a:t>flush_cache</a:t>
            </a:r>
            <a:r>
              <a:rPr lang="en-US" dirty="0"/>
              <a:t>=False, </a:t>
            </a:r>
            <a:r>
              <a:rPr lang="en-US" dirty="0" err="1"/>
              <a:t>warmup_requests</a:t>
            </a:r>
            <a:r>
              <a:rPr lang="en-US" dirty="0"/>
              <a:t>=1, </a:t>
            </a:r>
            <a:r>
              <a:rPr lang="en-US" dirty="0" err="1"/>
              <a:t>tokenize_prompt</a:t>
            </a:r>
            <a:r>
              <a:rPr lang="en-US" dirty="0"/>
              <a:t>=False, </a:t>
            </a:r>
            <a:r>
              <a:rPr lang="en-US" dirty="0" err="1"/>
              <a:t>gsp_num_groups</a:t>
            </a:r>
            <a:r>
              <a:rPr lang="en-US" dirty="0"/>
              <a:t>=64, </a:t>
            </a:r>
            <a:r>
              <a:rPr lang="en-US" dirty="0" err="1"/>
              <a:t>gsp_prompts_per_group</a:t>
            </a:r>
            <a:r>
              <a:rPr lang="en-US" dirty="0"/>
              <a:t>=16, </a:t>
            </a:r>
            <a:r>
              <a:rPr lang="en-US" dirty="0" err="1"/>
              <a:t>gsp_system_prompt_len</a:t>
            </a:r>
            <a:r>
              <a:rPr lang="en-US" dirty="0"/>
              <a:t>=2048, </a:t>
            </a:r>
            <a:r>
              <a:rPr lang="en-US" dirty="0" err="1"/>
              <a:t>gsp_question_len</a:t>
            </a:r>
            <a:r>
              <a:rPr lang="en-US" dirty="0"/>
              <a:t>=128, </a:t>
            </a:r>
            <a:r>
              <a:rPr lang="en-US" dirty="0" err="1"/>
              <a:t>gsp_output_len</a:t>
            </a:r>
            <a:r>
              <a:rPr lang="en-US" dirty="0"/>
              <a:t>=256, </a:t>
            </a:r>
            <a:r>
              <a:rPr lang="en-US" dirty="0" err="1"/>
              <a:t>gsp_range_ratio</a:t>
            </a:r>
            <a:r>
              <a:rPr lang="en-US" dirty="0"/>
              <a:t>=1.0, </a:t>
            </a:r>
            <a:r>
              <a:rPr lang="en-US" dirty="0" err="1"/>
              <a:t>gsp_fast_prepare</a:t>
            </a:r>
            <a:r>
              <a:rPr lang="en-US" dirty="0"/>
              <a:t>=False, </a:t>
            </a:r>
            <a:r>
              <a:rPr lang="en-US" dirty="0" err="1"/>
              <a:t>gsp_send_routing_key</a:t>
            </a:r>
            <a:r>
              <a:rPr lang="en-US" dirty="0"/>
              <a:t>=False, </a:t>
            </a:r>
            <a:r>
              <a:rPr lang="en-US" dirty="0" err="1"/>
              <a:t>gsp_num_turns</a:t>
            </a:r>
            <a:r>
              <a:rPr lang="en-US" dirty="0"/>
              <a:t>=1, </a:t>
            </a:r>
            <a:r>
              <a:rPr lang="en-US" dirty="0" err="1"/>
              <a:t>gsp_ordered</a:t>
            </a:r>
            <a:r>
              <a:rPr lang="en-US" dirty="0"/>
              <a:t>=False, </a:t>
            </a:r>
            <a:r>
              <a:rPr lang="en-US" dirty="0" err="1"/>
              <a:t>gsp_group_distribution</a:t>
            </a:r>
            <a:r>
              <a:rPr lang="en-US" dirty="0"/>
              <a:t>='uniform', </a:t>
            </a:r>
            <a:r>
              <a:rPr lang="en-US" dirty="0" err="1"/>
              <a:t>gsp_zipf_alpha</a:t>
            </a:r>
            <a:r>
              <a:rPr lang="en-US" dirty="0"/>
              <a:t>=None, </a:t>
            </a:r>
            <a:r>
              <a:rPr lang="en-US" dirty="0" err="1"/>
              <a:t>mooncake_slowdown_factor</a:t>
            </a:r>
            <a:r>
              <a:rPr lang="en-US" dirty="0"/>
              <a:t>=1.0, </a:t>
            </a:r>
            <a:r>
              <a:rPr lang="en-US" dirty="0" err="1"/>
              <a:t>mooncake_num_rounds</a:t>
            </a:r>
            <a:r>
              <a:rPr lang="en-US" dirty="0"/>
              <a:t>=1, </a:t>
            </a:r>
            <a:r>
              <a:rPr lang="en-US" dirty="0" err="1"/>
              <a:t>mooncake_workload</a:t>
            </a:r>
            <a:r>
              <a:rPr lang="en-US" dirty="0"/>
              <a:t>='conversation', </a:t>
            </a:r>
            <a:r>
              <a:rPr lang="en-US" dirty="0" err="1"/>
              <a:t>fake_prefill</a:t>
            </a:r>
            <a:r>
              <a:rPr lang="en-US" dirty="0"/>
              <a:t>=False, tag=None, header=None)</a:t>
            </a:r>
          </a:p>
          <a:p>
            <a:endParaRPr lang="en-US" dirty="0"/>
          </a:p>
          <a:p>
            <a:r>
              <a:rPr lang="en-US" dirty="0"/>
              <a:t>#Input tokens: 153600</a:t>
            </a:r>
          </a:p>
          <a:p>
            <a:r>
              <a:rPr lang="en-US" dirty="0"/>
              <a:t>#Output tokens: 153600</a:t>
            </a:r>
          </a:p>
          <a:p>
            <a:r>
              <a:rPr lang="en-US" dirty="0"/>
              <a:t>Starting warmup with 1 sequences...</a:t>
            </a:r>
          </a:p>
          <a:p>
            <a:r>
              <a:rPr lang="en-US" dirty="0"/>
              <a:t>Warmup completed with 1 sequences. Starting main benchmark run...</a:t>
            </a:r>
          </a:p>
          <a:p>
            <a:r>
              <a:rPr lang="en-US" dirty="0"/>
              <a:t>100%|██████████| 1200/1200 [01:03&lt;00:00, 18.82it/s]</a:t>
            </a:r>
          </a:p>
          <a:p>
            <a:endParaRPr lang="en-US" dirty="0"/>
          </a:p>
          <a:p>
            <a:r>
              <a:rPr lang="en-US" dirty="0"/>
              <a:t>============ Serving Benchmark Result ============</a:t>
            </a:r>
          </a:p>
          <a:p>
            <a:r>
              <a:rPr lang="en-US" dirty="0"/>
              <a:t>Backend:                                 </a:t>
            </a:r>
            <a:r>
              <a:rPr lang="en-US" dirty="0" err="1"/>
              <a:t>sglang</a:t>
            </a:r>
            <a:r>
              <a:rPr lang="en-US" dirty="0"/>
              <a:t>-</a:t>
            </a:r>
            <a:r>
              <a:rPr lang="en-US" dirty="0" err="1"/>
              <a:t>oai</a:t>
            </a:r>
            <a:r>
              <a:rPr lang="en-US" dirty="0"/>
              <a:t>-chat</a:t>
            </a:r>
          </a:p>
          <a:p>
            <a:r>
              <a:rPr lang="en-US" dirty="0"/>
              <a:t>Traffic request rate:                    20.0      </a:t>
            </a:r>
          </a:p>
          <a:p>
            <a:r>
              <a:rPr lang="en-US" dirty="0"/>
              <a:t>Max request concurrency:                 not set   </a:t>
            </a:r>
          </a:p>
          <a:p>
            <a:r>
              <a:rPr lang="en-US" dirty="0"/>
              <a:t>Successful requests:                     1200      </a:t>
            </a:r>
          </a:p>
          <a:p>
            <a:r>
              <a:rPr lang="en-US" dirty="0"/>
              <a:t>Benchmark duration (s):                  63.77     </a:t>
            </a:r>
          </a:p>
          <a:p>
            <a:r>
              <a:rPr lang="en-US" dirty="0"/>
              <a:t>Total input tokens:                      153600    </a:t>
            </a:r>
          </a:p>
          <a:p>
            <a:r>
              <a:rPr lang="en-US" dirty="0"/>
              <a:t>Total input text tokens:                 153600    </a:t>
            </a:r>
          </a:p>
          <a:p>
            <a:r>
              <a:rPr lang="en-US" dirty="0"/>
              <a:t>Total generated tokens:                  153600    </a:t>
            </a:r>
          </a:p>
          <a:p>
            <a:r>
              <a:rPr lang="en-US" dirty="0"/>
              <a:t>Total generated tokens (retokenized):    151574    </a:t>
            </a:r>
          </a:p>
          <a:p>
            <a:r>
              <a:rPr lang="en-US" dirty="0"/>
              <a:t>Request throughput (req/s):              18.82     </a:t>
            </a:r>
          </a:p>
          <a:p>
            <a:r>
              <a:rPr lang="en-US" dirty="0"/>
              <a:t>Input token throughput (</a:t>
            </a:r>
            <a:r>
              <a:rPr lang="en-US" dirty="0" err="1"/>
              <a:t>tok</a:t>
            </a:r>
            <a:r>
              <a:rPr lang="en-US" dirty="0"/>
              <a:t>/s):          2408.59   </a:t>
            </a:r>
          </a:p>
          <a:p>
            <a:r>
              <a:rPr lang="en-US" dirty="0"/>
              <a:t>Output token throughput (</a:t>
            </a:r>
            <a:r>
              <a:rPr lang="en-US" dirty="0" err="1"/>
              <a:t>tok</a:t>
            </a:r>
            <a:r>
              <a:rPr lang="en-US" dirty="0"/>
              <a:t>/s):         2408.59   </a:t>
            </a:r>
          </a:p>
          <a:p>
            <a:r>
              <a:rPr lang="en-US" dirty="0"/>
              <a:t>Peak output token throughput (</a:t>
            </a:r>
            <a:r>
              <a:rPr lang="en-US" dirty="0" err="1"/>
              <a:t>tok</a:t>
            </a:r>
            <a:r>
              <a:rPr lang="en-US" dirty="0"/>
              <a:t>/s):    3148.00   </a:t>
            </a:r>
          </a:p>
          <a:p>
            <a:r>
              <a:rPr lang="en-US" dirty="0"/>
              <a:t>Peak concurrent requests:                111       </a:t>
            </a:r>
          </a:p>
          <a:p>
            <a:r>
              <a:rPr lang="en-US" dirty="0"/>
              <a:t>Total token throughput (</a:t>
            </a:r>
            <a:r>
              <a:rPr lang="en-US" dirty="0" err="1"/>
              <a:t>tok</a:t>
            </a:r>
            <a:r>
              <a:rPr lang="en-US" dirty="0"/>
              <a:t>/s):          4817.18   </a:t>
            </a:r>
          </a:p>
          <a:p>
            <a:r>
              <a:rPr lang="en-US" dirty="0"/>
              <a:t>Concurrency:                             62.30     </a:t>
            </a:r>
          </a:p>
          <a:p>
            <a:r>
              <a:rPr lang="en-US" dirty="0"/>
              <a:t>----------------End-to-End Latency----------------</a:t>
            </a:r>
          </a:p>
          <a:p>
            <a:r>
              <a:rPr lang="en-US" dirty="0"/>
              <a:t>Mean E2E Latency (</a:t>
            </a:r>
            <a:r>
              <a:rPr lang="en-US" dirty="0" err="1"/>
              <a:t>ms</a:t>
            </a:r>
            <a:r>
              <a:rPr lang="en-US" dirty="0"/>
              <a:t>):                   3310.60   </a:t>
            </a:r>
          </a:p>
          <a:p>
            <a:r>
              <a:rPr lang="en-US" dirty="0"/>
              <a:t>Median E2E Latency (</a:t>
            </a:r>
            <a:r>
              <a:rPr lang="en-US" dirty="0" err="1"/>
              <a:t>ms</a:t>
            </a:r>
            <a:r>
              <a:rPr lang="en-US" dirty="0"/>
              <a:t>):                 3330.96   </a:t>
            </a:r>
          </a:p>
          <a:p>
            <a:r>
              <a:rPr lang="en-US" dirty="0"/>
              <a:t>P90 E2E Latency (</a:t>
            </a:r>
            <a:r>
              <a:rPr lang="en-US" dirty="0" err="1"/>
              <a:t>ms</a:t>
            </a:r>
            <a:r>
              <a:rPr lang="en-US" dirty="0"/>
              <a:t>):                    3453.84   </a:t>
            </a:r>
          </a:p>
          <a:p>
            <a:r>
              <a:rPr lang="en-US" dirty="0"/>
              <a:t>P95 E2E Latency (</a:t>
            </a:r>
            <a:r>
              <a:rPr lang="en-US" dirty="0" err="1"/>
              <a:t>ms</a:t>
            </a:r>
            <a:r>
              <a:rPr lang="en-US" dirty="0"/>
              <a:t>):                    3463.44   </a:t>
            </a:r>
          </a:p>
          <a:p>
            <a:r>
              <a:rPr lang="en-US" dirty="0"/>
              <a:t>P99 E2E Latency (</a:t>
            </a:r>
            <a:r>
              <a:rPr lang="en-US" dirty="0" err="1"/>
              <a:t>ms</a:t>
            </a:r>
            <a:r>
              <a:rPr lang="en-US" dirty="0"/>
              <a:t>):                    3483.76   </a:t>
            </a:r>
          </a:p>
          <a:p>
            <a:r>
              <a:rPr lang="en-US" dirty="0"/>
              <a:t>---------------Time to First Token----------------</a:t>
            </a:r>
          </a:p>
          <a:p>
            <a:r>
              <a:rPr lang="en-US" dirty="0"/>
              <a:t>Mean TTFT (</a:t>
            </a:r>
            <a:r>
              <a:rPr lang="en-US" dirty="0" err="1"/>
              <a:t>ms</a:t>
            </a:r>
            <a:r>
              <a:rPr lang="en-US" dirty="0"/>
              <a:t>):                          72.65     </a:t>
            </a:r>
          </a:p>
          <a:p>
            <a:r>
              <a:rPr lang="en-US" dirty="0"/>
              <a:t>Median TTFT (</a:t>
            </a:r>
            <a:r>
              <a:rPr lang="en-US" dirty="0" err="1"/>
              <a:t>ms</a:t>
            </a:r>
            <a:r>
              <a:rPr lang="en-US" dirty="0"/>
              <a:t>):                        73.02     </a:t>
            </a:r>
          </a:p>
          <a:p>
            <a:r>
              <a:rPr lang="en-US" dirty="0"/>
              <a:t>P90 TTFT (</a:t>
            </a:r>
            <a:r>
              <a:rPr lang="en-US" dirty="0" err="1"/>
              <a:t>ms</a:t>
            </a:r>
            <a:r>
              <a:rPr lang="en-US" dirty="0"/>
              <a:t>):                           83.38     </a:t>
            </a:r>
          </a:p>
          <a:p>
            <a:r>
              <a:rPr lang="en-US" dirty="0"/>
              <a:t>P95 TTFT (</a:t>
            </a:r>
            <a:r>
              <a:rPr lang="en-US" dirty="0" err="1"/>
              <a:t>ms</a:t>
            </a:r>
            <a:r>
              <a:rPr lang="en-US" dirty="0"/>
              <a:t>):                           85.15     </a:t>
            </a:r>
          </a:p>
          <a:p>
            <a:r>
              <a:rPr lang="en-US" dirty="0"/>
              <a:t>P99 TTFT (</a:t>
            </a:r>
            <a:r>
              <a:rPr lang="en-US" dirty="0" err="1"/>
              <a:t>ms</a:t>
            </a:r>
            <a:r>
              <a:rPr lang="en-US" dirty="0"/>
              <a:t>):                           89.21     </a:t>
            </a:r>
          </a:p>
          <a:p>
            <a:r>
              <a:rPr lang="en-US" dirty="0"/>
              <a:t>-----Time per Output Token (excl. 1st token)------</a:t>
            </a:r>
          </a:p>
          <a:p>
            <a:r>
              <a:rPr lang="en-US" dirty="0"/>
              <a:t>Mean TPOT (</a:t>
            </a:r>
            <a:r>
              <a:rPr lang="en-US" dirty="0" err="1"/>
              <a:t>ms</a:t>
            </a:r>
            <a:r>
              <a:rPr lang="en-US" dirty="0"/>
              <a:t>):                          25.50     </a:t>
            </a:r>
          </a:p>
          <a:p>
            <a:r>
              <a:rPr lang="en-US" dirty="0"/>
              <a:t>Median TPOT (</a:t>
            </a:r>
            <a:r>
              <a:rPr lang="en-US" dirty="0" err="1"/>
              <a:t>ms</a:t>
            </a:r>
            <a:r>
              <a:rPr lang="en-US" dirty="0"/>
              <a:t>):                        25.67     </a:t>
            </a:r>
          </a:p>
          <a:p>
            <a:r>
              <a:rPr lang="en-US" dirty="0"/>
              <a:t>P90 TPOT (</a:t>
            </a:r>
            <a:r>
              <a:rPr lang="en-US" dirty="0" err="1"/>
              <a:t>ms</a:t>
            </a:r>
            <a:r>
              <a:rPr lang="en-US" dirty="0"/>
              <a:t>):                           26.59     </a:t>
            </a:r>
          </a:p>
          <a:p>
            <a:r>
              <a:rPr lang="en-US" dirty="0"/>
              <a:t>P95 TPOT (</a:t>
            </a:r>
            <a:r>
              <a:rPr lang="en-US" dirty="0" err="1"/>
              <a:t>ms</a:t>
            </a:r>
            <a:r>
              <a:rPr lang="en-US" dirty="0"/>
              <a:t>):                           26.63     </a:t>
            </a:r>
          </a:p>
          <a:p>
            <a:r>
              <a:rPr lang="en-US" dirty="0"/>
              <a:t>P99 TPOT (</a:t>
            </a:r>
            <a:r>
              <a:rPr lang="en-US" dirty="0" err="1"/>
              <a:t>ms</a:t>
            </a:r>
            <a:r>
              <a:rPr lang="en-US" dirty="0"/>
              <a:t>):                           26.83     </a:t>
            </a:r>
          </a:p>
          <a:p>
            <a:r>
              <a:rPr lang="en-US" dirty="0"/>
              <a:t>---------------Inter-Token Latency----------------</a:t>
            </a:r>
          </a:p>
          <a:p>
            <a:r>
              <a:rPr lang="en-US" dirty="0"/>
              <a:t>Mean ITL (</a:t>
            </a:r>
            <a:r>
              <a:rPr lang="en-US" dirty="0" err="1"/>
              <a:t>ms</a:t>
            </a:r>
            <a:r>
              <a:rPr lang="en-US" dirty="0"/>
              <a:t>):                           25.86     </a:t>
            </a:r>
          </a:p>
          <a:p>
            <a:r>
              <a:rPr lang="en-US" dirty="0"/>
              <a:t>Median ITL (</a:t>
            </a:r>
            <a:r>
              <a:rPr lang="en-US" dirty="0" err="1"/>
              <a:t>ms</a:t>
            </a:r>
            <a:r>
              <a:rPr lang="en-US" dirty="0"/>
              <a:t>):                         25.67     </a:t>
            </a:r>
          </a:p>
          <a:p>
            <a:r>
              <a:rPr lang="en-US" dirty="0"/>
              <a:t>P90 ITL (</a:t>
            </a:r>
            <a:r>
              <a:rPr lang="en-US" dirty="0" err="1"/>
              <a:t>ms</a:t>
            </a:r>
            <a:r>
              <a:rPr lang="en-US" dirty="0"/>
              <a:t>):                            27.06     </a:t>
            </a:r>
          </a:p>
          <a:p>
            <a:r>
              <a:rPr lang="en-US" dirty="0"/>
              <a:t>P95 ITL (</a:t>
            </a:r>
            <a:r>
              <a:rPr lang="en-US" dirty="0" err="1"/>
              <a:t>ms</a:t>
            </a:r>
            <a:r>
              <a:rPr lang="en-US" dirty="0"/>
              <a:t>):                            27.53     </a:t>
            </a:r>
          </a:p>
          <a:p>
            <a:r>
              <a:rPr lang="en-US" dirty="0"/>
              <a:t>P99 ITL (</a:t>
            </a:r>
            <a:r>
              <a:rPr lang="en-US" dirty="0" err="1"/>
              <a:t>ms</a:t>
            </a:r>
            <a:r>
              <a:rPr lang="en-US" dirty="0"/>
              <a:t>):                            30.98     </a:t>
            </a:r>
          </a:p>
          <a:p>
            <a:r>
              <a:rPr lang="en-US" dirty="0"/>
              <a:t>Max ITL (</a:t>
            </a:r>
            <a:r>
              <a:rPr lang="en-US" dirty="0" err="1"/>
              <a:t>ms</a:t>
            </a:r>
            <a:r>
              <a:rPr lang="en-US" dirty="0"/>
              <a:t>):                            133.99    </a:t>
            </a:r>
          </a:p>
          <a:p>
            <a:r>
              <a:rPr lang="en-US" dirty="0"/>
              <a:t>==================================================</a:t>
            </a:r>
          </a:p>
          <a:p>
            <a:r>
              <a:rPr lang="en-US" dirty="0"/>
              <a:t>[Sun Jul 19 08:17:35 AM UTC 2026] Rate 20 done.</a:t>
            </a:r>
          </a:p>
          <a:p>
            <a:r>
              <a:rPr lang="en-US" dirty="0"/>
              <a:t>[Sun Jul 19 08:17:35 AM UTC 2026] All rates complete.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21026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CDD2-867F-CF75-2D0D-2C2A111E5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DA7474-FEC8-50B1-509A-1FFB8D0A3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184" y="1690688"/>
            <a:ext cx="11024616" cy="5167312"/>
          </a:xfrm>
        </p:spPr>
        <p:txBody>
          <a:bodyPr>
            <a:normAutofit fontScale="32500" lnSpcReduction="20000"/>
          </a:bodyPr>
          <a:lstStyle/>
          <a:p>
            <a:r>
              <a:rPr lang="en-IL" dirty="0"/>
              <a:t>vllm:request_decode_time_seconds_bucket{engine="0",le="0.3",model_name="Qwen/Qwen3-VL-235B-A22B-Instruct-FP8"} 0.0</a:t>
            </a:r>
          </a:p>
          <a:p>
            <a:r>
              <a:rPr lang="en-IL" dirty="0"/>
              <a:t>vllm:request_decode_time_seconds_bucket{engine="0",le="0.5",model_name="Qwen/Qwen3-VL-235B-A22B-Instruct-FP8"} 2.0</a:t>
            </a:r>
          </a:p>
          <a:p>
            <a:r>
              <a:rPr lang="en-IL" dirty="0"/>
              <a:t>vllm:request_decode_time_seconds_bucket{engine="0",le="0.8",model_name="Qwen/Qwen3-VL-235B-A22B-Instruct-FP8"} 3.0</a:t>
            </a:r>
          </a:p>
          <a:p>
            <a:r>
              <a:rPr lang="en-IL" dirty="0"/>
              <a:t>vllm:request_decode_time_seconds_bucket{engine="0",le="1.0",model_name="Qwen/Qwen3-VL-235B-A22B-Instruct-FP8"} 3.0</a:t>
            </a:r>
          </a:p>
          <a:p>
            <a:r>
              <a:rPr lang="en-IL" dirty="0"/>
              <a:t>vllm:request_decode_time_seconds_bucket{engine="0",le="1.5",model_name="Qwen/Qwen3-VL-235B-A22B-Instruct-FP8"} 3.0</a:t>
            </a:r>
          </a:p>
          <a:p>
            <a:r>
              <a:rPr lang="en-IL" dirty="0"/>
              <a:t>vllm:request_decode_time_seconds_bucket{engine="0",le="2.0",model_name="Qwen/Qwen3-VL-235B-A22B-Instruct-FP8"} 10.0</a:t>
            </a:r>
          </a:p>
          <a:p>
            <a:r>
              <a:rPr lang="en-IL" dirty="0"/>
              <a:t>vllm:request_decode_time_seconds_bucket{engine="0",le="2.5",model_name="Qwen/Qwen3-VL-235B-A22B-Instruct-FP8"} 113.0</a:t>
            </a:r>
          </a:p>
          <a:p>
            <a:r>
              <a:rPr lang="en-IL" dirty="0"/>
              <a:t>vllm:request_decode_time_seconds_bucket{engine="0",le="5.0",model_name="Qwen/Qwen3-VL-235B-A22B-Instruct-FP8"} 2735.0</a:t>
            </a:r>
          </a:p>
          <a:p>
            <a:r>
              <a:rPr lang="en-IL" dirty="0"/>
              <a:t>vllm:request_decode_time_seconds_bucket{engine="0",le="10.0",model_name="Qwen/Qwen3-VL-235B-A22B-Instruct-FP8"} 2811.0</a:t>
            </a:r>
          </a:p>
          <a:p>
            <a:r>
              <a:rPr lang="en-IL" dirty="0"/>
              <a:t>vllm:request_decode_time_seconds_count{engine="0",model_name="Qwen/Qwen3-VL-235B-A22B-Instruct-FP8"} 2811.0</a:t>
            </a:r>
          </a:p>
          <a:p>
            <a:r>
              <a:rPr lang="en-IL" dirty="0"/>
              <a:t>vllm:request_decode_time_seconds_sum{engine="0",model_name="Qwen/Qwen3-VL-235B-A22B-Instruct-FP8"} 9922.541681243107</a:t>
            </a:r>
          </a:p>
          <a:p>
            <a:pPr marL="0" indent="0">
              <a:buNone/>
            </a:pPr>
            <a:br>
              <a:rPr lang="en-IL" dirty="0"/>
            </a:br>
            <a:endParaRPr lang="en-IL" dirty="0"/>
          </a:p>
          <a:p>
            <a:r>
              <a:rPr lang="en-IL" dirty="0"/>
              <a:t>vllm:request_prefill_time_seconds_bucket{engine="0",le="0.3",model_name="Qwen/Qwen3-VL-235B-A22B-Instruct-FP8"} 2789.0</a:t>
            </a:r>
          </a:p>
          <a:p>
            <a:r>
              <a:rPr lang="en-IL" dirty="0"/>
              <a:t>vllm:request_prefill_time_seconds_bucket{engine="0",le="0.5",model_name="Qwen/Qwen3-VL-235B-A22B-Instruct-FP8"} 2789.0</a:t>
            </a:r>
          </a:p>
          <a:p>
            <a:r>
              <a:rPr lang="en-IL" dirty="0"/>
              <a:t>vllm:request_prefill_time_seconds_bucket{engine="0",le="0.8",model_name="Qwen/Qwen3-VL-235B-A22B-Instruct-FP8"} 2790.0</a:t>
            </a:r>
          </a:p>
          <a:p>
            <a:r>
              <a:rPr lang="en-IL" dirty="0"/>
              <a:t>vllm:request_prefill_time_seconds_bucket{engine="0",le="1.0",model_name="Qwen/Qwen3-VL-235B-A22B-Instruct-FP8"} 2811.0</a:t>
            </a:r>
          </a:p>
          <a:p>
            <a:r>
              <a:rPr lang="en-IL" dirty="0"/>
              <a:t>vllm:request_prefill_time_seconds_bucket{engine="0",le="1.5",model_name="Qwen/Qwen3-VL-235B-A22B-Instruct-FP8"} 2811.0</a:t>
            </a:r>
          </a:p>
          <a:p>
            <a:br>
              <a:rPr lang="en-IL" dirty="0"/>
            </a:br>
            <a:r>
              <a:rPr lang="en-IL" dirty="0"/>
              <a:t>vllm:request_prefill_time_seconds_count{engine="0",model_name="Qwen/Qwen3-VL-235B-A22B-Instruct-FP8"} 2811.0</a:t>
            </a:r>
          </a:p>
          <a:p>
            <a:r>
              <a:rPr lang="en-IL" dirty="0"/>
              <a:t>vllm:request_prefill_time_seconds_sum{engine="0",model_name="Qwen/Qwen3-VL-235B-A22B-Instruct-FP8"} 182.50267336331308</a:t>
            </a:r>
          </a:p>
          <a:p>
            <a:br>
              <a:rPr lang="en-IL" dirty="0"/>
            </a:b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964590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C35D9-9F06-0269-80AA-D8341075B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A2D2A-F5FE-3406-2237-7F8BBB46DB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3474"/>
            <a:ext cx="10515600" cy="485267"/>
          </a:xfrm>
        </p:spPr>
        <p:txBody>
          <a:bodyPr>
            <a:noAutofit/>
          </a:bodyPr>
          <a:lstStyle/>
          <a:p>
            <a:r>
              <a:rPr lang="en-IL" sz="3200" dirty="0"/>
              <a:t>20-07-2026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5FD63-F5C1-7093-2A83-FD007A0C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28" y="1112393"/>
            <a:ext cx="10515600" cy="4351338"/>
          </a:xfrm>
        </p:spPr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0032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2838B31-ACF8-E16C-C331-0B24C4E941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583624"/>
              </p:ext>
            </p:extLst>
          </p:nvPr>
        </p:nvGraphicFramePr>
        <p:xfrm>
          <a:off x="267208" y="436202"/>
          <a:ext cx="4515555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824">
                  <a:extLst>
                    <a:ext uri="{9D8B030D-6E8A-4147-A177-3AD203B41FA5}">
                      <a16:colId xmlns:a16="http://schemas.microsoft.com/office/drawing/2014/main" val="2364192093"/>
                    </a:ext>
                  </a:extLst>
                </a:gridCol>
                <a:gridCol w="674398">
                  <a:extLst>
                    <a:ext uri="{9D8B030D-6E8A-4147-A177-3AD203B41FA5}">
                      <a16:colId xmlns:a16="http://schemas.microsoft.com/office/drawing/2014/main" val="280854852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915050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550982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38192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NEW Sidecar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</a:t>
                      </a:r>
                      <a:r>
                        <a:rPr lang="en-IL" sz="1200" dirty="0"/>
                        <a:t>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65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</a:t>
                      </a:r>
                      <a:r>
                        <a:rPr lang="en-IL" sz="1200" dirty="0"/>
                        <a:t>2e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25315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23980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40366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41404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07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20186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19223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35017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37362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21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40.39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40.54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44.84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50.37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41.21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25.03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71.92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138.10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66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rocessing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01:41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17958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46B1656-B096-C569-F69C-9587DF2862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690891"/>
              </p:ext>
            </p:extLst>
          </p:nvPr>
        </p:nvGraphicFramePr>
        <p:xfrm>
          <a:off x="267207" y="3139778"/>
          <a:ext cx="4515555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364192093"/>
                    </a:ext>
                  </a:extLst>
                </a:gridCol>
                <a:gridCol w="683542">
                  <a:extLst>
                    <a:ext uri="{9D8B030D-6E8A-4147-A177-3AD203B41FA5}">
                      <a16:colId xmlns:a16="http://schemas.microsoft.com/office/drawing/2014/main" val="280854852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915050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550982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38192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NEW Sidecar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</a:t>
                      </a:r>
                      <a:r>
                        <a:rPr lang="en-IL" sz="1200" dirty="0"/>
                        <a:t>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65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</a:t>
                      </a:r>
                      <a:r>
                        <a:rPr lang="en-IL" sz="1200" dirty="0"/>
                        <a:t>2e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24419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23066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39950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41635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07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20170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19000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35627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38457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21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33.46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33.39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35.58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40.00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34.15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25.68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49.62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72.14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66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rocessing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01:42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17958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0339FC03-FE20-9FC9-C8B8-07E5371461FF}"/>
              </a:ext>
            </a:extLst>
          </p:cNvPr>
          <p:cNvSpPr/>
          <p:nvPr/>
        </p:nvSpPr>
        <p:spPr>
          <a:xfrm>
            <a:off x="4663440" y="436202"/>
            <a:ext cx="960120" cy="441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L" sz="1400" dirty="0"/>
              <a:t>Rate 20</a:t>
            </a:r>
            <a:br>
              <a:rPr lang="en-IL" sz="1400" dirty="0"/>
            </a:br>
            <a:r>
              <a:rPr lang="en-IL" sz="1400" dirty="0"/>
              <a:t>1 min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5845C9-186D-0915-FF16-F1F2BAD98A10}"/>
              </a:ext>
            </a:extLst>
          </p:cNvPr>
          <p:cNvSpPr/>
          <p:nvPr/>
        </p:nvSpPr>
        <p:spPr>
          <a:xfrm>
            <a:off x="4663440" y="3129617"/>
            <a:ext cx="960120" cy="441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</a:t>
            </a:r>
            <a:r>
              <a:rPr lang="en-IL" sz="1400" dirty="0"/>
              <a:t>ate 20</a:t>
            </a:r>
          </a:p>
          <a:p>
            <a:pPr algn="ctr"/>
            <a:r>
              <a:rPr lang="en-IL" sz="1400" dirty="0"/>
              <a:t>1 min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0770819-784E-4F9C-AC75-84F49AC6F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287206"/>
              </p:ext>
            </p:extLst>
          </p:nvPr>
        </p:nvGraphicFramePr>
        <p:xfrm>
          <a:off x="6180327" y="3139778"/>
          <a:ext cx="4515555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364192093"/>
                    </a:ext>
                  </a:extLst>
                </a:gridCol>
                <a:gridCol w="683542">
                  <a:extLst>
                    <a:ext uri="{9D8B030D-6E8A-4147-A177-3AD203B41FA5}">
                      <a16:colId xmlns:a16="http://schemas.microsoft.com/office/drawing/2014/main" val="280854852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915050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550982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38192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OLD Sidecar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</a:t>
                      </a:r>
                      <a:r>
                        <a:rPr lang="en-IL" sz="1200" dirty="0"/>
                        <a:t>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65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</a:t>
                      </a:r>
                      <a:r>
                        <a:rPr lang="en-IL" sz="1200" dirty="0"/>
                        <a:t>2e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6022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6023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6987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7410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07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665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21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66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rocessing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01:04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17958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EC9DCFAD-CBFE-00F2-E5FD-662D6753BC09}"/>
              </a:ext>
            </a:extLst>
          </p:cNvPr>
          <p:cNvSpPr/>
          <p:nvPr/>
        </p:nvSpPr>
        <p:spPr>
          <a:xfrm>
            <a:off x="10576560" y="3129617"/>
            <a:ext cx="960120" cy="441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</a:t>
            </a:r>
            <a:r>
              <a:rPr lang="en-IL" sz="1400" dirty="0"/>
              <a:t>ate 20</a:t>
            </a:r>
          </a:p>
          <a:p>
            <a:pPr algn="ctr"/>
            <a:r>
              <a:rPr lang="en-IL" sz="1400" dirty="0"/>
              <a:t>1 min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FB9DBFC7-4EB8-C524-E2CB-A7C87A210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509263"/>
              </p:ext>
            </p:extLst>
          </p:nvPr>
        </p:nvGraphicFramePr>
        <p:xfrm>
          <a:off x="6180327" y="329522"/>
          <a:ext cx="4515555" cy="231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2680">
                  <a:extLst>
                    <a:ext uri="{9D8B030D-6E8A-4147-A177-3AD203B41FA5}">
                      <a16:colId xmlns:a16="http://schemas.microsoft.com/office/drawing/2014/main" val="2364192093"/>
                    </a:ext>
                  </a:extLst>
                </a:gridCol>
                <a:gridCol w="683542">
                  <a:extLst>
                    <a:ext uri="{9D8B030D-6E8A-4147-A177-3AD203B41FA5}">
                      <a16:colId xmlns:a16="http://schemas.microsoft.com/office/drawing/2014/main" val="2808548526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3779150507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865509824"/>
                    </a:ext>
                  </a:extLst>
                </a:gridCol>
                <a:gridCol w="903111">
                  <a:extLst>
                    <a:ext uri="{9D8B030D-6E8A-4147-A177-3AD203B41FA5}">
                      <a16:colId xmlns:a16="http://schemas.microsoft.com/office/drawing/2014/main" val="26381925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OLD Sidecar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</a:t>
                      </a:r>
                      <a:r>
                        <a:rPr lang="en-IL" sz="1200" dirty="0"/>
                        <a:t>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46551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E</a:t>
                      </a:r>
                      <a:r>
                        <a:rPr lang="en-IL" sz="1200" dirty="0"/>
                        <a:t>2e latency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5903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5979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6756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7050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7407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TTFT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431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3210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TPOT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08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L" sz="1200" dirty="0"/>
                        <a:t>ITL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145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46676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P</a:t>
                      </a:r>
                      <a:r>
                        <a:rPr lang="en-IL" sz="1200" dirty="0"/>
                        <a:t>rocessing time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L" sz="1200" dirty="0"/>
                        <a:t>01:04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L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17958"/>
                  </a:ext>
                </a:extLst>
              </a:tr>
            </a:tbl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256998E-C227-86B2-B19E-8D1379BBD2AF}"/>
              </a:ext>
            </a:extLst>
          </p:cNvPr>
          <p:cNvSpPr/>
          <p:nvPr/>
        </p:nvSpPr>
        <p:spPr>
          <a:xfrm>
            <a:off x="10576560" y="319361"/>
            <a:ext cx="960120" cy="4416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</a:t>
            </a:r>
            <a:r>
              <a:rPr lang="en-IL" sz="1400" dirty="0"/>
              <a:t>ate 20</a:t>
            </a:r>
          </a:p>
          <a:p>
            <a:pPr algn="ctr"/>
            <a:r>
              <a:rPr lang="en-IL" sz="1400" dirty="0"/>
              <a:t>1 min</a:t>
            </a:r>
          </a:p>
        </p:txBody>
      </p:sp>
    </p:spTree>
    <p:extLst>
      <p:ext uri="{BB962C8B-B14F-4D97-AF65-F5344CB8AC3E}">
        <p14:creationId xmlns:p14="http://schemas.microsoft.com/office/powerpoint/2010/main" val="49479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EF34-4054-4065-F545-493CAD4CB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L" dirty="0"/>
              <a:t>TTFT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5E7CFA-6912-6A31-9147-D50CC34F71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L" dirty="0"/>
              <a:t>Sidecar versions</a:t>
            </a:r>
          </a:p>
          <a:p>
            <a:pPr lvl="1"/>
            <a:r>
              <a:rPr lang="en-IL" dirty="0"/>
              <a:t>Request: 1 img 1080p, 128 tokens in, 128 tokens out</a:t>
            </a:r>
          </a:p>
          <a:p>
            <a:pPr lvl="2"/>
            <a:r>
              <a:rPr lang="en-US" dirty="0"/>
              <a:t>L</a:t>
            </a:r>
            <a:r>
              <a:rPr lang="en-IL" dirty="0"/>
              <a:t>lmd-0.9.0 – 0.2s</a:t>
            </a:r>
          </a:p>
          <a:p>
            <a:pPr lvl="2"/>
            <a:r>
              <a:rPr lang="en-IL" dirty="0"/>
              <a:t>Alexey PR – 20s</a:t>
            </a:r>
          </a:p>
          <a:p>
            <a:pPr lvl="2"/>
            <a:r>
              <a:rPr lang="en-IL" dirty="0"/>
              <a:t>Main built by Alexey – 20s</a:t>
            </a:r>
          </a:p>
          <a:p>
            <a:pPr lvl="2"/>
            <a:r>
              <a:rPr lang="en-IL" dirty="0"/>
              <a:t>Main from llmd – 18s</a:t>
            </a:r>
          </a:p>
          <a:p>
            <a:pPr lvl="1"/>
            <a:r>
              <a:rPr lang="en-IL" dirty="0"/>
              <a:t>Request: 128 tokens in, 128 tokens out, no images</a:t>
            </a:r>
          </a:p>
          <a:p>
            <a:pPr lvl="2"/>
            <a:r>
              <a:rPr lang="en-IL" dirty="0"/>
              <a:t>Main from llmd – 0.1s</a:t>
            </a:r>
          </a:p>
          <a:p>
            <a:pPr lvl="2"/>
            <a:endParaRPr lang="en-IL" dirty="0"/>
          </a:p>
          <a:p>
            <a:pPr lvl="1"/>
            <a:endParaRPr lang="en-IL" dirty="0"/>
          </a:p>
          <a:p>
            <a:pPr lvl="1"/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40527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27173</TotalTime>
  <Words>3887</Words>
  <Application>Microsoft Macintosh PowerPoint</Application>
  <PresentationFormat>Widescreen</PresentationFormat>
  <Paragraphs>528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5 mins, only text, 2 runs, 128 in, 128 out</vt:lpstr>
      <vt:lpstr>TTFT, ITL, TPOT text only</vt:lpstr>
      <vt:lpstr>5 mins, inc 1 image, 1 run, 128 in, 128 out</vt:lpstr>
      <vt:lpstr>TTFT, ITL, TPOT with images</vt:lpstr>
      <vt:lpstr>EPD pod</vt:lpstr>
      <vt:lpstr>E-PD with 1 image in request</vt:lpstr>
      <vt:lpstr>E pod</vt:lpstr>
      <vt:lpstr>PD pod in e-pd configuration</vt:lpstr>
      <vt:lpstr>One image + long output </vt:lpstr>
      <vt:lpstr>One image + long output - cont </vt:lpstr>
      <vt:lpstr>Processing times</vt:lpstr>
      <vt:lpstr>New config</vt:lpstr>
      <vt:lpstr>19-07</vt:lpstr>
      <vt:lpstr>Rate 20, images 8 (use hard coded) </vt:lpstr>
      <vt:lpstr>PowerPoint Presentation</vt:lpstr>
      <vt:lpstr>20-07-2026</vt:lpstr>
      <vt:lpstr>PowerPoint Presentation</vt:lpstr>
      <vt:lpstr>TTFT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MAYA BARNEA</dc:creator>
  <cp:lastModifiedBy>MAYA BARNEA</cp:lastModifiedBy>
  <cp:revision>23</cp:revision>
  <dcterms:created xsi:type="dcterms:W3CDTF">2026-07-12T13:30:48Z</dcterms:created>
  <dcterms:modified xsi:type="dcterms:W3CDTF">2026-08-10T09:42:13Z</dcterms:modified>
</cp:coreProperties>
</file>